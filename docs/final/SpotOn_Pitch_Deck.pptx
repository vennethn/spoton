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seconds. "Every week in Jakarta, somebody signs a lease on a hunch. We built the map they should have asked first. We are Triple T, and this is SpotOn." If you want the BINUS logo, place it top right in Canva.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Tell it as a story: a first-time owner, a busy station, and three questions nobody can answer. Which corner is actually busy? Who is already there? Is there a shop to rent at all? Today the answer is a guess, and a wrong guess costs a family its savings. That is the problem, and those are the people we built this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The idea in one line: you ask, the map answers. Objective: cover the three questions a site visit is meant to answer, in one place, in plain language. Value: a shortlist you can defend, in minutes, with no GIS skills. Tapak is the guide who does the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Keep it light. Three sources, in plain words: the MAPID catalogue for the shops, the property catalogue for the space, and the MAPID Apps missions our community walked. Method in one breath: walkable cells, one score per business type, busy minus rivals, gated by space, boosted by transit. The AI understands the question and writes the answer. Every number is computed from the data, never by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This is the live product, and it is what you will see at the booth. Ask, and the whole city recolours for your business. Click an area and the card explains the score. Switch to By place and you are choosing between real shops on the market, with the walk to the station. It works in Indonesian and English, on a laptop or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One real answer, told as a story. Ask for a coffee shop and SpotOn names Rawa Selatan: a busy street, five rivals, twelve units for rent, four stops. It scores 65, the best gap on the grid. Then the two things a hunch never tells you: where the market is already full, and where nobody has surveyed yet. That honesty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Impact: fewer wrong leases, and small owners competing on the same information the chains buy. Applications from a first shop to a franchise roll-out, and the grid moves to any city with a transit map. Next: more streets walked with MAPID Apps, rent listings, and two more cities. Close on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seconds. Invite the judges to ask the map something at the booth.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C0E"/>
        </a:solidFill>
      </p:bgPr>
    </p:bg>
    <p:spTree>
      <p:nvGrpSpPr>
        <p:cNvPr id="1" name=""/>
        <p:cNvGrpSpPr/>
        <p:nvPr/>
      </p:nvGrpSpPr>
      <p:grpSpPr>
        <a:xfrm>
          <a:off x="0" y="0"/>
          <a:ext cx="0" cy="0"/>
          <a:chOff x="0" y="0"/>
          <a:chExt cx="0" cy="0"/>
        </a:xfrm>
      </p:grpSpPr>
      <p:pic>
        <p:nvPicPr>
          <p:cNvPr id="2" name="Image 0" descr="/tmp/claude-0/-home-user-SpotOn/d6f8d0e4-6af9-55ea-be62-fed6943cd5f4/scratchpad/crops/hero.png">    </p:cNvPr>
          <p:cNvPicPr>
            <a:picLocks noChangeAspect="1"/>
          </p:cNvPicPr>
          <p:nvPr/>
        </p:nvPicPr>
        <p:blipFill>
          <a:blip r:embed="rId1"/>
          <a:srcRect l="0" r="0" t="0" b="0"/>
          <a:stretch/>
        </p:blipFill>
        <p:spPr>
          <a:xfrm>
            <a:off x="4937760" y="0"/>
            <a:ext cx="7251192" cy="6858000"/>
          </a:xfrm>
          <a:prstGeom prst="rect">
            <a:avLst/>
          </a:prstGeom>
        </p:spPr>
      </p:pic>
      <p:pic>
        <p:nvPicPr>
          <p:cNvPr id="3" name="Image 1" descr="/tmp/claude-0/-home-user-SpotOn/d6f8d0e4-6af9-55ea-be62-fed6943cd5f4/scratchpad/assets/mark-white.png">    </p:cNvPr>
          <p:cNvPicPr>
            <a:picLocks noChangeAspect="1"/>
          </p:cNvPicPr>
          <p:nvPr/>
        </p:nvPicPr>
        <p:blipFill>
          <a:blip r:embed="rId2"/>
          <a:stretch>
            <a:fillRect/>
          </a:stretch>
        </p:blipFill>
        <p:spPr>
          <a:xfrm>
            <a:off x="731520" y="640080"/>
            <a:ext cx="566928" cy="566928"/>
          </a:xfrm>
          <a:prstGeom prst="rect">
            <a:avLst/>
          </a:prstGeom>
        </p:spPr>
      </p:pic>
      <p:sp>
        <p:nvSpPr>
          <p:cNvPr id="4" name="Text 0"/>
          <p:cNvSpPr txBox="1"/>
          <p:nvPr/>
        </p:nvSpPr>
        <p:spPr>
          <a:xfrm>
            <a:off x="1417320" y="640080"/>
            <a:ext cx="2743200" cy="56692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SpotOn</a:t>
            </a:r>
            <a:endParaRPr lang="en-US" sz="2800" dirty="0"/>
          </a:p>
        </p:txBody>
      </p:sp>
      <p:sp>
        <p:nvSpPr>
          <p:cNvPr id="5" name="Text 1"/>
          <p:cNvSpPr txBox="1"/>
          <p:nvPr/>
        </p:nvSpPr>
        <p:spPr>
          <a:xfrm>
            <a:off x="731520" y="1828800"/>
            <a:ext cx="4389120" cy="2468880"/>
          </a:xfrm>
          <a:prstGeom prst="rect">
            <a:avLst/>
          </a:prstGeom>
          <a:noFill/>
          <a:ln/>
        </p:spPr>
        <p:txBody>
          <a:bodyPr wrap="square" lIns="0" tIns="0" rIns="0" bIns="0" rtlCol="0" anchor="t"/>
          <a:lstStyle/>
          <a:p>
            <a:pPr algn="l" indent="0" marL="0">
              <a:buNone/>
            </a:pPr>
            <a:r>
              <a:rPr lang="en-US" sz="4200" b="1" dirty="0">
                <a:solidFill>
                  <a:srgbClr val="FFFFFF"/>
                </a:solidFill>
                <a:latin typeface="Calibri" pitchFamily="34" charset="0"/>
                <a:ea typeface="Calibri" pitchFamily="34" charset="-122"/>
                <a:cs typeface="Calibri" pitchFamily="34" charset="-120"/>
              </a:rPr>
              <a:t>Don't guess</a:t>
            </a:r>
            <a:endParaRPr lang="en-US" sz="4200" dirty="0"/>
          </a:p>
          <a:p>
            <a:pPr algn="l" indent="0" marL="0">
              <a:buNone/>
            </a:pPr>
            <a:r>
              <a:rPr lang="en-US" sz="4200" b="1" dirty="0">
                <a:solidFill>
                  <a:srgbClr val="FFFFFF"/>
                </a:solidFill>
                <a:latin typeface="Calibri" pitchFamily="34" charset="0"/>
                <a:ea typeface="Calibri" pitchFamily="34" charset="-122"/>
                <a:cs typeface="Calibri" pitchFamily="34" charset="-120"/>
              </a:rPr>
              <a:t>where to open.</a:t>
            </a:r>
            <a:endParaRPr lang="en-US" sz="4200" dirty="0"/>
          </a:p>
          <a:p>
            <a:pPr algn="l" indent="0" marL="0">
              <a:buNone/>
            </a:pPr>
            <a:r>
              <a:rPr lang="en-US" sz="4200" b="1" dirty="0">
                <a:solidFill>
                  <a:srgbClr val="FFFFFF"/>
                </a:solidFill>
                <a:latin typeface="Calibri" pitchFamily="34" charset="0"/>
                <a:ea typeface="Calibri" pitchFamily="34" charset="-122"/>
                <a:cs typeface="Calibri" pitchFamily="34" charset="-120"/>
              </a:rPr>
              <a:t>Ask the map.</a:t>
            </a:r>
            <a:endParaRPr lang="en-US" sz="4200" dirty="0"/>
          </a:p>
        </p:txBody>
      </p:sp>
      <p:sp>
        <p:nvSpPr>
          <p:cNvPr id="6" name="Text 2"/>
          <p:cNvSpPr txBox="1"/>
          <p:nvPr/>
        </p:nvSpPr>
        <p:spPr>
          <a:xfrm>
            <a:off x="731520" y="4343400"/>
            <a:ext cx="4023360" cy="1005840"/>
          </a:xfrm>
          <a:prstGeom prst="rect">
            <a:avLst/>
          </a:prstGeom>
          <a:noFill/>
          <a:ln/>
        </p:spPr>
        <p:txBody>
          <a:bodyPr wrap="square" lIns="0" tIns="0" rIns="0" bIns="0" rtlCol="0" anchor="t"/>
          <a:lstStyle/>
          <a:p>
            <a:pPr algn="l" indent="0" marL="0">
              <a:buNone/>
            </a:pPr>
            <a:r>
              <a:rPr lang="en-US" sz="2000" dirty="0">
                <a:solidFill>
                  <a:srgbClr val="C9CDD4"/>
                </a:solidFill>
                <a:latin typeface="Calibri" pitchFamily="34" charset="0"/>
                <a:ea typeface="Calibri" pitchFamily="34" charset="-122"/>
                <a:cs typeface="Calibri" pitchFamily="34" charset="-120"/>
              </a:rPr>
              <a:t>The map that tells small businesses where to open around Jakarta's stations, and why.</a:t>
            </a:r>
            <a:endParaRPr lang="en-US" sz="2000" dirty="0"/>
          </a:p>
        </p:txBody>
      </p:sp>
      <p:sp>
        <p:nvSpPr>
          <p:cNvPr id="7" name="Text 3"/>
          <p:cNvSpPr txBox="1"/>
          <p:nvPr/>
        </p:nvSpPr>
        <p:spPr>
          <a:xfrm>
            <a:off x="731520" y="5623560"/>
            <a:ext cx="4206240" cy="548640"/>
          </a:xfrm>
          <a:prstGeom prst="rect">
            <a:avLst/>
          </a:prstGeom>
          <a:noFill/>
          <a:ln/>
        </p:spPr>
        <p:txBody>
          <a:bodyPr wrap="square" lIns="0" tIns="0" rIns="0" bIns="0" rtlCol="0" anchor="t"/>
          <a:lstStyle/>
          <a:p>
            <a:pPr algn="l" indent="0" marL="0">
              <a:buNone/>
            </a:pPr>
            <a:r>
              <a:rPr lang="en-US" sz="1800" b="1" dirty="0">
                <a:solidFill>
                  <a:srgbClr val="FFFFFF"/>
                </a:solidFill>
                <a:latin typeface="Calibri" pitchFamily="34" charset="0"/>
                <a:ea typeface="Calibri" pitchFamily="34" charset="-122"/>
                <a:cs typeface="Calibri" pitchFamily="34" charset="-120"/>
              </a:rPr>
              <a:t>Team Triple T, Universitas Bina Nusantara</a:t>
            </a:r>
            <a:endParaRPr lang="en-US" sz="1800" dirty="0"/>
          </a:p>
        </p:txBody>
      </p:sp>
      <p:sp>
        <p:nvSpPr>
          <p:cNvPr id="8" name="Text 4"/>
          <p:cNvSpPr txBox="1"/>
          <p:nvPr/>
        </p:nvSpPr>
        <p:spPr>
          <a:xfrm>
            <a:off x="731520" y="6126480"/>
            <a:ext cx="4206240" cy="457200"/>
          </a:xfrm>
          <a:prstGeom prst="rect">
            <a:avLst/>
          </a:prstGeom>
          <a:noFill/>
          <a:ln/>
        </p:spPr>
        <p:txBody>
          <a:bodyPr wrap="square" lIns="0" tIns="0" rIns="0" bIns="0" rtlCol="0" anchor="t"/>
          <a:lstStyle/>
          <a:p>
            <a:pPr algn="l" indent="0" marL="0">
              <a:buNone/>
            </a:pPr>
            <a:r>
              <a:rPr lang="en-US" sz="1800" dirty="0">
                <a:solidFill>
                  <a:srgbClr val="8FB8F0"/>
                </a:solidFill>
                <a:latin typeface="Calibri" pitchFamily="34" charset="0"/>
                <a:ea typeface="Calibri" pitchFamily="34" charset="-122"/>
                <a:cs typeface="Calibri" pitchFamily="34" charset="-120"/>
              </a:rPr>
              <a:t>MAPID WebGIS Competition 2026, Final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claude-0/-home-user-SpotOn/d6f8d0e4-6af9-55ea-be62-fed6943cd5f4/scratchpad/assets/mark-ink.png">    </p:cNvPr>
          <p:cNvPicPr>
            <a:picLocks noChangeAspect="1"/>
          </p:cNvPicPr>
          <p:nvPr/>
        </p:nvPicPr>
        <p:blipFill>
          <a:blip r:embed="rId1"/>
          <a:stretch>
            <a:fillRect/>
          </a:stretch>
        </p:blipFill>
        <p:spPr>
          <a:xfrm>
            <a:off x="10561320" y="475488"/>
            <a:ext cx="365760" cy="365760"/>
          </a:xfrm>
          <a:prstGeom prst="rect">
            <a:avLst/>
          </a:prstGeom>
        </p:spPr>
      </p:pic>
      <p:sp>
        <p:nvSpPr>
          <p:cNvPr id="3" name="Text 0"/>
          <p:cNvSpPr txBox="1"/>
          <p:nvPr/>
        </p:nvSpPr>
        <p:spPr>
          <a:xfrm>
            <a:off x="10972800" y="475488"/>
            <a:ext cx="1097280" cy="365760"/>
          </a:xfrm>
          <a:prstGeom prst="rect">
            <a:avLst/>
          </a:prstGeom>
          <a:noFill/>
          <a:ln/>
        </p:spPr>
        <p:txBody>
          <a:bodyPr wrap="square" lIns="0" tIns="0" rIns="0" bIns="0" rtlCol="0" anchor="ctr"/>
          <a:lstStyle/>
          <a:p>
            <a:pPr algn="l" indent="0" marL="0">
              <a:buNone/>
            </a:pPr>
            <a:r>
              <a:rPr lang="en-US" sz="1800" b="1" dirty="0">
                <a:solidFill>
                  <a:srgbClr val="0B0C0E"/>
                </a:solidFill>
                <a:latin typeface="Calibri" pitchFamily="34" charset="0"/>
                <a:ea typeface="Calibri" pitchFamily="34" charset="-122"/>
                <a:cs typeface="Calibri" pitchFamily="34" charset="-120"/>
              </a:rPr>
              <a:t>SpotOn</a:t>
            </a:r>
            <a:endParaRPr lang="en-US" sz="1800" dirty="0"/>
          </a:p>
        </p:txBody>
      </p:sp>
      <p:sp>
        <p:nvSpPr>
          <p:cNvPr id="4" name="Text 1"/>
          <p:cNvSpPr txBox="1"/>
          <p:nvPr/>
        </p:nvSpPr>
        <p:spPr>
          <a:xfrm>
            <a:off x="731520" y="502920"/>
            <a:ext cx="7315200" cy="320040"/>
          </a:xfrm>
          <a:prstGeom prst="rect">
            <a:avLst/>
          </a:prstGeom>
          <a:noFill/>
          <a:ln/>
        </p:spPr>
        <p:txBody>
          <a:bodyPr wrap="square" lIns="0" tIns="0" rIns="0" bIns="0" rtlCol="0" anchor="t"/>
          <a:lstStyle/>
          <a:p>
            <a:pPr algn="l" indent="0" marL="0">
              <a:buNone/>
            </a:pPr>
            <a:r>
              <a:rPr lang="en-US" sz="1800" spc="150" kern="0" dirty="0">
                <a:solidFill>
                  <a:srgbClr val="7A7F88"/>
                </a:solidFill>
                <a:latin typeface="Calibri" pitchFamily="34" charset="0"/>
                <a:ea typeface="Calibri" pitchFamily="34" charset="-122"/>
                <a:cs typeface="Calibri" pitchFamily="34" charset="-120"/>
              </a:rPr>
              <a:t>Problem and background</a:t>
            </a:r>
            <a:endParaRPr lang="en-US" sz="1800" dirty="0"/>
          </a:p>
        </p:txBody>
      </p:sp>
      <p:sp>
        <p:nvSpPr>
          <p:cNvPr id="5" name="Text 2"/>
          <p:cNvSpPr txBox="1"/>
          <p:nvPr/>
        </p:nvSpPr>
        <p:spPr>
          <a:xfrm>
            <a:off x="731520" y="914400"/>
            <a:ext cx="5669280" cy="1737360"/>
          </a:xfrm>
          <a:prstGeom prst="rect">
            <a:avLst/>
          </a:prstGeom>
          <a:noFill/>
          <a:ln/>
        </p:spPr>
        <p:txBody>
          <a:bodyPr wrap="square" lIns="0" tIns="0" rIns="0" bIns="0" rtlCol="0" anchor="t"/>
          <a:lstStyle/>
          <a:p>
            <a:pPr algn="l" indent="0" marL="0">
              <a:buNone/>
            </a:pPr>
            <a:r>
              <a:rPr lang="en-US" sz="3800" b="1" dirty="0">
                <a:solidFill>
                  <a:srgbClr val="0B0C0E"/>
                </a:solidFill>
                <a:latin typeface="Calibri" pitchFamily="34" charset="0"/>
                <a:ea typeface="Calibri" pitchFamily="34" charset="-122"/>
                <a:cs typeface="Calibri" pitchFamily="34" charset="-120"/>
              </a:rPr>
              <a:t>Every week, someone signs a lease on a hunch.</a:t>
            </a:r>
            <a:endParaRPr lang="en-US" sz="3800" dirty="0"/>
          </a:p>
        </p:txBody>
      </p:sp>
      <p:sp>
        <p:nvSpPr>
          <p:cNvPr id="6" name="Text 3"/>
          <p:cNvSpPr txBox="1"/>
          <p:nvPr/>
        </p:nvSpPr>
        <p:spPr>
          <a:xfrm>
            <a:off x="731520" y="2788920"/>
            <a:ext cx="5394960" cy="2377440"/>
          </a:xfrm>
          <a:prstGeom prst="rect">
            <a:avLst/>
          </a:prstGeom>
          <a:noFill/>
          <a:ln/>
        </p:spPr>
        <p:txBody>
          <a:bodyPr wrap="square" lIns="0" tIns="0" rIns="0" bIns="0" rtlCol="0" anchor="t"/>
          <a:lstStyle/>
          <a:p>
            <a:pPr algn="l" indent="0" marL="0">
              <a:buNone/>
            </a:pPr>
            <a:r>
              <a:rPr lang="en-US" sz="2000" dirty="0">
                <a:solidFill>
                  <a:srgbClr val="3A3D45"/>
                </a:solidFill>
                <a:latin typeface="Calibri" pitchFamily="34" charset="0"/>
                <a:ea typeface="Calibri" pitchFamily="34" charset="-122"/>
                <a:cs typeface="Calibri" pitchFamily="34" charset="-120"/>
              </a:rPr>
              <a:t>You want to open a coffee shop near the station. Everyone says the area is busy. Nobody can tell you which corner, who you are up against, or whether there is even a shop to rent. So you guess. Too many guess wrong, and it is their savings that go.</a:t>
            </a:r>
            <a:endParaRPr lang="en-US" sz="2000" dirty="0"/>
          </a:p>
        </p:txBody>
      </p:sp>
      <p:sp>
        <p:nvSpPr>
          <p:cNvPr id="7" name="Text 4"/>
          <p:cNvSpPr txBox="1"/>
          <p:nvPr/>
        </p:nvSpPr>
        <p:spPr>
          <a:xfrm>
            <a:off x="731520" y="5349240"/>
            <a:ext cx="5394960" cy="914400"/>
          </a:xfrm>
          <a:prstGeom prst="rect">
            <a:avLst/>
          </a:prstGeom>
          <a:noFill/>
          <a:ln/>
        </p:spPr>
        <p:txBody>
          <a:bodyPr wrap="square" lIns="0" tIns="0" rIns="0" bIns="0" rtlCol="0" anchor="t"/>
          <a:lstStyle/>
          <a:p>
            <a:pPr algn="l" indent="0" marL="0">
              <a:buNone/>
            </a:pPr>
            <a:r>
              <a:rPr lang="en-US" sz="1800" dirty="0">
                <a:solidFill>
                  <a:srgbClr val="7A7F88"/>
                </a:solidFill>
                <a:latin typeface="Calibri" pitchFamily="34" charset="0"/>
                <a:ea typeface="Calibri" pitchFamily="34" charset="-122"/>
                <a:cs typeface="Calibri" pitchFamily="34" charset="-120"/>
              </a:rPr>
              <a:t>Built for the people who take that risk: first-time owners, small businesses, franchise teams and investors.</a:t>
            </a:r>
            <a:endParaRPr lang="en-US" sz="1800" dirty="0"/>
          </a:p>
        </p:txBody>
      </p:sp>
      <p:pic>
        <p:nvPicPr>
          <p:cNvPr id="8" name="Image 1" descr="/tmp/claude-0/-home-user-SpotOn/d6f8d0e4-6af9-55ea-be62-fed6943cd5f4/scratchpad/crops/hero-plot-r.png">    </p:cNvPr>
          <p:cNvPicPr>
            <a:picLocks noChangeAspect="1"/>
          </p:cNvPicPr>
          <p:nvPr/>
        </p:nvPicPr>
        <p:blipFill>
          <a:blip r:embed="rId2"/>
          <a:stretch>
            <a:fillRect/>
          </a:stretch>
        </p:blipFill>
        <p:spPr>
          <a:xfrm>
            <a:off x="6812280" y="960120"/>
            <a:ext cx="4645152" cy="4754880"/>
          </a:xfrm>
          <a:prstGeom prst="rect">
            <a:avLst/>
          </a:prstGeom>
        </p:spPr>
      </p:pic>
      <p:sp>
        <p:nvSpPr>
          <p:cNvPr id="9" name="Text 5"/>
          <p:cNvSpPr txBox="1"/>
          <p:nvPr/>
        </p:nvSpPr>
        <p:spPr>
          <a:xfrm>
            <a:off x="6812280" y="5852160"/>
            <a:ext cx="4645152" cy="640080"/>
          </a:xfrm>
          <a:prstGeom prst="rect">
            <a:avLst/>
          </a:prstGeom>
          <a:noFill/>
          <a:ln/>
        </p:spPr>
        <p:txBody>
          <a:bodyPr wrap="square" lIns="0" tIns="0" rIns="0" bIns="0" rtlCol="0" anchor="t"/>
          <a:lstStyle/>
          <a:p>
            <a:pPr algn="l" indent="0" marL="0">
              <a:buNone/>
            </a:pPr>
            <a:r>
              <a:rPr lang="en-US" sz="1800" dirty="0">
                <a:solidFill>
                  <a:srgbClr val="7A7F88"/>
                </a:solidFill>
                <a:latin typeface="Calibri" pitchFamily="34" charset="0"/>
                <a:ea typeface="Calibri" pitchFamily="34" charset="-122"/>
                <a:cs typeface="Calibri" pitchFamily="34" charset="-120"/>
              </a:rPr>
              <a:t>That outlined plot is still empty. It could be your shop.</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claude-0/-home-user-SpotOn/d6f8d0e4-6af9-55ea-be62-fed6943cd5f4/scratchpad/assets/mark-ink.png">    </p:cNvPr>
          <p:cNvPicPr>
            <a:picLocks noChangeAspect="1"/>
          </p:cNvPicPr>
          <p:nvPr/>
        </p:nvPicPr>
        <p:blipFill>
          <a:blip r:embed="rId1"/>
          <a:stretch>
            <a:fillRect/>
          </a:stretch>
        </p:blipFill>
        <p:spPr>
          <a:xfrm>
            <a:off x="10561320" y="475488"/>
            <a:ext cx="365760" cy="365760"/>
          </a:xfrm>
          <a:prstGeom prst="rect">
            <a:avLst/>
          </a:prstGeom>
        </p:spPr>
      </p:pic>
      <p:sp>
        <p:nvSpPr>
          <p:cNvPr id="3" name="Text 0"/>
          <p:cNvSpPr txBox="1"/>
          <p:nvPr/>
        </p:nvSpPr>
        <p:spPr>
          <a:xfrm>
            <a:off x="10972800" y="475488"/>
            <a:ext cx="1097280" cy="365760"/>
          </a:xfrm>
          <a:prstGeom prst="rect">
            <a:avLst/>
          </a:prstGeom>
          <a:noFill/>
          <a:ln/>
        </p:spPr>
        <p:txBody>
          <a:bodyPr wrap="square" lIns="0" tIns="0" rIns="0" bIns="0" rtlCol="0" anchor="ctr"/>
          <a:lstStyle/>
          <a:p>
            <a:pPr algn="l" indent="0" marL="0">
              <a:buNone/>
            </a:pPr>
            <a:r>
              <a:rPr lang="en-US" sz="1800" b="1" dirty="0">
                <a:solidFill>
                  <a:srgbClr val="0B0C0E"/>
                </a:solidFill>
                <a:latin typeface="Calibri" pitchFamily="34" charset="0"/>
                <a:ea typeface="Calibri" pitchFamily="34" charset="-122"/>
                <a:cs typeface="Calibri" pitchFamily="34" charset="-120"/>
              </a:rPr>
              <a:t>SpotOn</a:t>
            </a:r>
            <a:endParaRPr lang="en-US" sz="1800" dirty="0"/>
          </a:p>
        </p:txBody>
      </p:sp>
      <p:sp>
        <p:nvSpPr>
          <p:cNvPr id="4" name="Text 1"/>
          <p:cNvSpPr txBox="1"/>
          <p:nvPr/>
        </p:nvSpPr>
        <p:spPr>
          <a:xfrm>
            <a:off x="731520" y="502920"/>
            <a:ext cx="7315200" cy="320040"/>
          </a:xfrm>
          <a:prstGeom prst="rect">
            <a:avLst/>
          </a:prstGeom>
          <a:noFill/>
          <a:ln/>
        </p:spPr>
        <p:txBody>
          <a:bodyPr wrap="square" lIns="0" tIns="0" rIns="0" bIns="0" rtlCol="0" anchor="t"/>
          <a:lstStyle/>
          <a:p>
            <a:pPr algn="l" indent="0" marL="0">
              <a:buNone/>
            </a:pPr>
            <a:r>
              <a:rPr lang="en-US" sz="1800" spc="150" kern="0" dirty="0">
                <a:solidFill>
                  <a:srgbClr val="7A7F88"/>
                </a:solidFill>
                <a:latin typeface="Calibri" pitchFamily="34" charset="0"/>
                <a:ea typeface="Calibri" pitchFamily="34" charset="-122"/>
                <a:cs typeface="Calibri" pitchFamily="34" charset="-120"/>
              </a:rPr>
              <a:t>Solution and concept</a:t>
            </a:r>
            <a:endParaRPr lang="en-US" sz="1800" dirty="0"/>
          </a:p>
        </p:txBody>
      </p:sp>
      <p:sp>
        <p:nvSpPr>
          <p:cNvPr id="5" name="Text 2"/>
          <p:cNvSpPr txBox="1"/>
          <p:nvPr/>
        </p:nvSpPr>
        <p:spPr>
          <a:xfrm>
            <a:off x="731520" y="914400"/>
            <a:ext cx="5303520" cy="1737360"/>
          </a:xfrm>
          <a:prstGeom prst="rect">
            <a:avLst/>
          </a:prstGeom>
          <a:noFill/>
          <a:ln/>
        </p:spPr>
        <p:txBody>
          <a:bodyPr wrap="square" lIns="0" tIns="0" rIns="0" bIns="0" rtlCol="0" anchor="t"/>
          <a:lstStyle/>
          <a:p>
            <a:pPr algn="l" indent="0" marL="0">
              <a:buNone/>
            </a:pPr>
            <a:r>
              <a:rPr lang="en-US" sz="3800" b="1" dirty="0">
                <a:solidFill>
                  <a:srgbClr val="0B0C0E"/>
                </a:solidFill>
                <a:latin typeface="Calibri" pitchFamily="34" charset="0"/>
                <a:ea typeface="Calibri" pitchFamily="34" charset="-122"/>
                <a:cs typeface="Calibri" pitchFamily="34" charset="-120"/>
              </a:rPr>
              <a:t>Ask the map, in your own words.</a:t>
            </a:r>
            <a:endParaRPr lang="en-US" sz="3800" dirty="0"/>
          </a:p>
        </p:txBody>
      </p:sp>
      <p:sp>
        <p:nvSpPr>
          <p:cNvPr id="6" name="Text 3"/>
          <p:cNvSpPr txBox="1"/>
          <p:nvPr/>
        </p:nvSpPr>
        <p:spPr>
          <a:xfrm>
            <a:off x="731520" y="2788920"/>
            <a:ext cx="5303520" cy="1280160"/>
          </a:xfrm>
          <a:prstGeom prst="rect">
            <a:avLst/>
          </a:prstGeom>
          <a:noFill/>
          <a:ln/>
        </p:spPr>
        <p:txBody>
          <a:bodyPr wrap="square" lIns="0" tIns="0" rIns="0" bIns="0" rtlCol="0" anchor="t"/>
          <a:lstStyle/>
          <a:p>
            <a:pPr algn="l" indent="0" marL="0">
              <a:buNone/>
            </a:pPr>
            <a:r>
              <a:rPr lang="en-US" sz="2000" dirty="0">
                <a:solidFill>
                  <a:srgbClr val="3A3D45"/>
                </a:solidFill>
                <a:latin typeface="Calibri" pitchFamily="34" charset="0"/>
                <a:ea typeface="Calibri" pitchFamily="34" charset="-122"/>
                <a:cs typeface="Calibri" pitchFamily="34" charset="-120"/>
              </a:rPr>
              <a:t>Type what you want to open. SpotOn answers with the best spots around Jakarta's stations and why, like a friend who has walked every street.</a:t>
            </a:r>
            <a:endParaRPr lang="en-US" sz="2000" dirty="0"/>
          </a:p>
        </p:txBody>
      </p:sp>
      <p:sp>
        <p:nvSpPr>
          <p:cNvPr id="7" name="Text 4"/>
          <p:cNvSpPr txBox="1"/>
          <p:nvPr/>
        </p:nvSpPr>
        <p:spPr>
          <a:xfrm>
            <a:off x="731520" y="4114800"/>
            <a:ext cx="5394960" cy="1737360"/>
          </a:xfrm>
          <a:prstGeom prst="rect">
            <a:avLst/>
          </a:prstGeom>
          <a:noFill/>
          <a:ln/>
        </p:spPr>
        <p:txBody>
          <a:bodyPr wrap="square" lIns="0" tIns="0" rIns="0" bIns="0" rtlCol="0" anchor="t"/>
          <a:lstStyle/>
          <a:p>
            <a:pPr indent="0" marL="0">
              <a:spcAft>
                <a:spcPts val="1000"/>
              </a:spcAft>
              <a:buNone/>
            </a:pPr>
            <a:r>
              <a:rPr lang="en-US" sz="2000" b="1" dirty="0">
                <a:solidFill>
                  <a:srgbClr val="0B0C0E"/>
                </a:solidFill>
                <a:latin typeface="Calibri" pitchFamily="34" charset="0"/>
                <a:ea typeface="Calibri" pitchFamily="34" charset="-122"/>
                <a:cs typeface="Calibri" pitchFamily="34" charset="-120"/>
              </a:rPr>
              <a:t>Is it busy? </a:t>
            </a:r>
            <a:pPr indent="0" marL="0">
              <a:spcAft>
                <a:spcPts val="1000"/>
              </a:spcAft>
              <a:buNone/>
            </a:pPr>
            <a:r>
              <a:rPr lang="en-US" sz="2000" dirty="0">
                <a:solidFill>
                  <a:srgbClr val="3A3D45"/>
                </a:solidFill>
                <a:latin typeface="Calibri" pitchFamily="34" charset="0"/>
                <a:ea typeface="Calibri" pitchFamily="34" charset="-122"/>
                <a:cs typeface="Calibri" pitchFamily="34" charset="-120"/>
              </a:rPr>
              <a:t>We counted.</a:t>
            </a:r>
            <a:endParaRPr lang="en-US" sz="2000" dirty="0"/>
          </a:p>
          <a:p>
            <a:pPr indent="0" marL="0">
              <a:spcAft>
                <a:spcPts val="1000"/>
              </a:spcAft>
              <a:buNone/>
            </a:pPr>
            <a:r>
              <a:rPr lang="en-US" sz="2000" b="1" dirty="0">
                <a:solidFill>
                  <a:srgbClr val="0B0C0E"/>
                </a:solidFill>
                <a:latin typeface="Calibri" pitchFamily="34" charset="0"/>
                <a:ea typeface="Calibri" pitchFamily="34" charset="-122"/>
                <a:cs typeface="Calibri" pitchFamily="34" charset="-120"/>
              </a:rPr>
              <a:t>Who is already there? </a:t>
            </a:r>
            <a:pPr indent="0" marL="0">
              <a:spcAft>
                <a:spcPts val="1000"/>
              </a:spcAft>
              <a:buNone/>
            </a:pPr>
            <a:r>
              <a:rPr lang="en-US" sz="2000" dirty="0">
                <a:solidFill>
                  <a:srgbClr val="3A3D45"/>
                </a:solidFill>
                <a:latin typeface="Calibri" pitchFamily="34" charset="0"/>
                <a:ea typeface="Calibri" pitchFamily="34" charset="-122"/>
                <a:cs typeface="Calibri" pitchFamily="34" charset="-120"/>
              </a:rPr>
              <a:t>We know them by name.</a:t>
            </a:r>
            <a:endParaRPr lang="en-US" sz="2000" dirty="0"/>
          </a:p>
          <a:p>
            <a:pPr indent="0" marL="0">
              <a:spcAft>
                <a:spcPts val="1000"/>
              </a:spcAft>
              <a:buNone/>
            </a:pPr>
            <a:r>
              <a:rPr lang="en-US" sz="2000" b="1" dirty="0">
                <a:solidFill>
                  <a:srgbClr val="0B0C0E"/>
                </a:solidFill>
                <a:latin typeface="Calibri" pitchFamily="34" charset="0"/>
                <a:ea typeface="Calibri" pitchFamily="34" charset="-122"/>
                <a:cs typeface="Calibri" pitchFamily="34" charset="-120"/>
              </a:rPr>
              <a:t>Space to rent? </a:t>
            </a:r>
            <a:pPr indent="0" marL="0">
              <a:spcAft>
                <a:spcPts val="1000"/>
              </a:spcAft>
              <a:buNone/>
            </a:pPr>
            <a:r>
              <a:rPr lang="en-US" sz="2000" dirty="0">
                <a:solidFill>
                  <a:srgbClr val="3A3D45"/>
                </a:solidFill>
                <a:latin typeface="Calibri" pitchFamily="34" charset="0"/>
                <a:ea typeface="Calibri" pitchFamily="34" charset="-122"/>
                <a:cs typeface="Calibri" pitchFamily="34" charset="-120"/>
              </a:rPr>
              <a:t>Only spots with space qualify.</a:t>
            </a:r>
            <a:endParaRPr lang="en-US" sz="2000" dirty="0"/>
          </a:p>
        </p:txBody>
      </p:sp>
      <p:sp>
        <p:nvSpPr>
          <p:cNvPr id="8" name="Text 5"/>
          <p:cNvSpPr txBox="1"/>
          <p:nvPr/>
        </p:nvSpPr>
        <p:spPr>
          <a:xfrm>
            <a:off x="731520" y="5870448"/>
            <a:ext cx="5394960" cy="731520"/>
          </a:xfrm>
          <a:prstGeom prst="rect">
            <a:avLst/>
          </a:prstGeom>
          <a:noFill/>
          <a:ln/>
        </p:spPr>
        <p:txBody>
          <a:bodyPr wrap="square" lIns="0" tIns="0" rIns="0" bIns="0" rtlCol="0" anchor="t"/>
          <a:lstStyle/>
          <a:p>
            <a:pPr algn="l" indent="0" marL="0">
              <a:buNone/>
            </a:pPr>
            <a:r>
              <a:rPr lang="en-US" sz="2000" b="1" dirty="0">
                <a:solidFill>
                  <a:srgbClr val="0071E3"/>
                </a:solidFill>
                <a:latin typeface="Calibri" pitchFamily="34" charset="0"/>
                <a:ea typeface="Calibri" pitchFamily="34" charset="-122"/>
                <a:cs typeface="Calibri" pitchFamily="34" charset="-120"/>
              </a:rPr>
              <a:t>From a hunch to a shortlist, in one question.</a:t>
            </a:r>
            <a:endParaRPr lang="en-US" sz="2000" dirty="0"/>
          </a:p>
        </p:txBody>
      </p:sp>
      <p:pic>
        <p:nvPicPr>
          <p:cNvPr id="9" name="Image 1" descr="/tmp/claude-0/-home-user-SpotOn/d6f8d0e4-6af9-55ea-be62-fed6943cd5f4/scratchpad/crops/ask-r.png">    </p:cNvPr>
          <p:cNvPicPr>
            <a:picLocks noChangeAspect="1"/>
          </p:cNvPicPr>
          <p:nvPr/>
        </p:nvPicPr>
        <p:blipFill>
          <a:blip r:embed="rId2"/>
          <a:stretch>
            <a:fillRect/>
          </a:stretch>
        </p:blipFill>
        <p:spPr>
          <a:xfrm>
            <a:off x="6309360" y="868680"/>
            <a:ext cx="5148072" cy="4178808"/>
          </a:xfrm>
          <a:prstGeom prst="rect">
            <a:avLst/>
          </a:prstGeom>
        </p:spPr>
      </p:pic>
      <p:sp>
        <p:nvSpPr>
          <p:cNvPr id="10" name="Text 6"/>
          <p:cNvSpPr txBox="1"/>
          <p:nvPr/>
        </p:nvSpPr>
        <p:spPr>
          <a:xfrm>
            <a:off x="6309360" y="5166360"/>
            <a:ext cx="5148072" cy="640080"/>
          </a:xfrm>
          <a:prstGeom prst="rect">
            <a:avLst/>
          </a:prstGeom>
          <a:noFill/>
          <a:ln/>
        </p:spPr>
        <p:txBody>
          <a:bodyPr wrap="square" lIns="0" tIns="0" rIns="0" bIns="0" rtlCol="0" anchor="t"/>
          <a:lstStyle/>
          <a:p>
            <a:pPr algn="l" indent="0" marL="0">
              <a:buNone/>
            </a:pPr>
            <a:r>
              <a:rPr lang="en-US" sz="1800" dirty="0">
                <a:solidFill>
                  <a:srgbClr val="7A7F88"/>
                </a:solidFill>
                <a:latin typeface="Calibri" pitchFamily="34" charset="0"/>
                <a:ea typeface="Calibri" pitchFamily="34" charset="-122"/>
                <a:cs typeface="Calibri" pitchFamily="34" charset="-120"/>
              </a:rPr>
              <a:t>Tapak, the guide inside the map, answers in Indonesian or English.</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claude-0/-home-user-SpotOn/d6f8d0e4-6af9-55ea-be62-fed6943cd5f4/scratchpad/assets/mark-ink.png">    </p:cNvPr>
          <p:cNvPicPr>
            <a:picLocks noChangeAspect="1"/>
          </p:cNvPicPr>
          <p:nvPr/>
        </p:nvPicPr>
        <p:blipFill>
          <a:blip r:embed="rId1"/>
          <a:stretch>
            <a:fillRect/>
          </a:stretch>
        </p:blipFill>
        <p:spPr>
          <a:xfrm>
            <a:off x="10561320" y="475488"/>
            <a:ext cx="365760" cy="365760"/>
          </a:xfrm>
          <a:prstGeom prst="rect">
            <a:avLst/>
          </a:prstGeom>
        </p:spPr>
      </p:pic>
      <p:sp>
        <p:nvSpPr>
          <p:cNvPr id="3" name="Text 0"/>
          <p:cNvSpPr txBox="1"/>
          <p:nvPr/>
        </p:nvSpPr>
        <p:spPr>
          <a:xfrm>
            <a:off x="10972800" y="475488"/>
            <a:ext cx="1097280" cy="365760"/>
          </a:xfrm>
          <a:prstGeom prst="rect">
            <a:avLst/>
          </a:prstGeom>
          <a:noFill/>
          <a:ln/>
        </p:spPr>
        <p:txBody>
          <a:bodyPr wrap="square" lIns="0" tIns="0" rIns="0" bIns="0" rtlCol="0" anchor="ctr"/>
          <a:lstStyle/>
          <a:p>
            <a:pPr algn="l" indent="0" marL="0">
              <a:buNone/>
            </a:pPr>
            <a:r>
              <a:rPr lang="en-US" sz="1800" b="1" dirty="0">
                <a:solidFill>
                  <a:srgbClr val="0B0C0E"/>
                </a:solidFill>
                <a:latin typeface="Calibri" pitchFamily="34" charset="0"/>
                <a:ea typeface="Calibri" pitchFamily="34" charset="-122"/>
                <a:cs typeface="Calibri" pitchFamily="34" charset="-120"/>
              </a:rPr>
              <a:t>SpotOn</a:t>
            </a:r>
            <a:endParaRPr lang="en-US" sz="1800" dirty="0"/>
          </a:p>
        </p:txBody>
      </p:sp>
      <p:sp>
        <p:nvSpPr>
          <p:cNvPr id="4" name="Text 1"/>
          <p:cNvSpPr txBox="1"/>
          <p:nvPr/>
        </p:nvSpPr>
        <p:spPr>
          <a:xfrm>
            <a:off x="731520" y="502920"/>
            <a:ext cx="7315200" cy="320040"/>
          </a:xfrm>
          <a:prstGeom prst="rect">
            <a:avLst/>
          </a:prstGeom>
          <a:noFill/>
          <a:ln/>
        </p:spPr>
        <p:txBody>
          <a:bodyPr wrap="square" lIns="0" tIns="0" rIns="0" bIns="0" rtlCol="0" anchor="t"/>
          <a:lstStyle/>
          <a:p>
            <a:pPr algn="l" indent="0" marL="0">
              <a:buNone/>
            </a:pPr>
            <a:r>
              <a:rPr lang="en-US" sz="1800" spc="150" kern="0" dirty="0">
                <a:solidFill>
                  <a:srgbClr val="7A7F88"/>
                </a:solidFill>
                <a:latin typeface="Calibri" pitchFamily="34" charset="0"/>
                <a:ea typeface="Calibri" pitchFamily="34" charset="-122"/>
                <a:cs typeface="Calibri" pitchFamily="34" charset="-120"/>
              </a:rPr>
              <a:t>Data and methodology</a:t>
            </a:r>
            <a:endParaRPr lang="en-US" sz="1800" dirty="0"/>
          </a:p>
        </p:txBody>
      </p:sp>
      <p:sp>
        <p:nvSpPr>
          <p:cNvPr id="5" name="Text 2"/>
          <p:cNvSpPr txBox="1"/>
          <p:nvPr/>
        </p:nvSpPr>
        <p:spPr>
          <a:xfrm>
            <a:off x="731520" y="914400"/>
            <a:ext cx="5303520" cy="1737360"/>
          </a:xfrm>
          <a:prstGeom prst="rect">
            <a:avLst/>
          </a:prstGeom>
          <a:noFill/>
          <a:ln/>
        </p:spPr>
        <p:txBody>
          <a:bodyPr wrap="square" lIns="0" tIns="0" rIns="0" bIns="0" rtlCol="0" anchor="t"/>
          <a:lstStyle/>
          <a:p>
            <a:pPr algn="l" indent="0" marL="0">
              <a:buNone/>
            </a:pPr>
            <a:r>
              <a:rPr lang="en-US" sz="3800" b="1" dirty="0">
                <a:solidFill>
                  <a:srgbClr val="0B0C0E"/>
                </a:solidFill>
                <a:latin typeface="Calibri" pitchFamily="34" charset="0"/>
                <a:ea typeface="Calibri" pitchFamily="34" charset="-122"/>
                <a:cs typeface="Calibri" pitchFamily="34" charset="-120"/>
              </a:rPr>
              <a:t>We count what is really there.</a:t>
            </a:r>
            <a:endParaRPr lang="en-US" sz="3800" dirty="0"/>
          </a:p>
        </p:txBody>
      </p:sp>
      <p:sp>
        <p:nvSpPr>
          <p:cNvPr id="6" name="Text 3"/>
          <p:cNvSpPr txBox="1"/>
          <p:nvPr/>
        </p:nvSpPr>
        <p:spPr>
          <a:xfrm>
            <a:off x="731520" y="2788920"/>
            <a:ext cx="5212080" cy="1188720"/>
          </a:xfrm>
          <a:prstGeom prst="rect">
            <a:avLst/>
          </a:prstGeom>
          <a:noFill/>
          <a:ln/>
        </p:spPr>
        <p:txBody>
          <a:bodyPr wrap="square" lIns="0" tIns="0" rIns="0" bIns="0" rtlCol="0" anchor="t"/>
          <a:lstStyle/>
          <a:p>
            <a:pPr algn="l" indent="0" marL="0">
              <a:buNone/>
            </a:pPr>
            <a:r>
              <a:rPr lang="en-US" sz="2000" dirty="0">
                <a:solidFill>
                  <a:srgbClr val="3A3D45"/>
                </a:solidFill>
                <a:latin typeface="Calibri" pitchFamily="34" charset="0"/>
                <a:ea typeface="Calibri" pitchFamily="34" charset="-122"/>
                <a:cs typeface="Calibri" pitchFamily="34" charset="-120"/>
              </a:rPr>
              <a:t>Every shop around every station, every unit on the market, and notes from people who walked the streets with MAPID Apps.</a:t>
            </a:r>
            <a:endParaRPr lang="en-US" sz="2000" dirty="0"/>
          </a:p>
        </p:txBody>
      </p:sp>
      <p:sp>
        <p:nvSpPr>
          <p:cNvPr id="7" name="Text 4"/>
          <p:cNvSpPr txBox="1"/>
          <p:nvPr/>
        </p:nvSpPr>
        <p:spPr>
          <a:xfrm>
            <a:off x="731520" y="3977640"/>
            <a:ext cx="5212080" cy="1965960"/>
          </a:xfrm>
          <a:prstGeom prst="rect">
            <a:avLst/>
          </a:prstGeom>
          <a:noFill/>
          <a:ln/>
        </p:spPr>
        <p:txBody>
          <a:bodyPr wrap="square" lIns="0" tIns="0" rIns="0" bIns="0" rtlCol="0" anchor="t"/>
          <a:lstStyle/>
          <a:p>
            <a:pPr algn="l" indent="0" marL="0">
              <a:buNone/>
            </a:pPr>
            <a:r>
              <a:rPr lang="en-US" sz="2000" dirty="0">
                <a:solidFill>
                  <a:srgbClr val="3A3D45"/>
                </a:solidFill>
                <a:latin typeface="Calibri" pitchFamily="34" charset="0"/>
                <a:ea typeface="Calibri" pitchFamily="34" charset="-122"/>
                <a:cs typeface="Calibri" pitchFamily="34" charset="-120"/>
              </a:rPr>
              <a:t>Jakarta is cut into walkable cells. Each cell gets one score per kind of business: how busy it is, minus your rivals, only where there is space to rent, with a boost for transit. The AI writes the sentence. It never invents a number.</a:t>
            </a:r>
            <a:endParaRPr lang="en-US" sz="2000" dirty="0"/>
          </a:p>
        </p:txBody>
      </p:sp>
      <p:sp>
        <p:nvSpPr>
          <p:cNvPr id="8" name="Text 5"/>
          <p:cNvSpPr txBox="1"/>
          <p:nvPr/>
        </p:nvSpPr>
        <p:spPr>
          <a:xfrm>
            <a:off x="731520" y="5989320"/>
            <a:ext cx="10698480" cy="457200"/>
          </a:xfrm>
          <a:prstGeom prst="rect">
            <a:avLst/>
          </a:prstGeom>
          <a:noFill/>
          <a:ln/>
        </p:spPr>
        <p:txBody>
          <a:bodyPr wrap="square" lIns="0" tIns="0" rIns="0" bIns="0" rtlCol="0" anchor="t"/>
          <a:lstStyle/>
          <a:p>
            <a:pPr algn="l" indent="0" marL="0">
              <a:buNone/>
            </a:pPr>
            <a:r>
              <a:rPr lang="en-US" sz="1800" dirty="0">
                <a:solidFill>
                  <a:srgbClr val="7A7F88"/>
                </a:solidFill>
                <a:latin typeface="Calibri" pitchFamily="34" charset="0"/>
                <a:ea typeface="Calibri" pitchFamily="34" charset="-122"/>
                <a:cs typeface="Calibri" pitchFamily="34" charset="-120"/>
              </a:rPr>
              <a:t>562 station areas · 24,630 businesses · 1,027 field notes · MAPID and OpenStreetMap</a:t>
            </a:r>
            <a:endParaRPr lang="en-US" sz="1800" dirty="0"/>
          </a:p>
        </p:txBody>
      </p:sp>
      <p:pic>
        <p:nvPicPr>
          <p:cNvPr id="9" name="Image 1" descr="/tmp/claude-0/-home-user-SpotOn/d6f8d0e4-6af9-55ea-be62-fed6943cd5f4/scratchpad/crops/coverage-card-r.png">    </p:cNvPr>
          <p:cNvPicPr>
            <a:picLocks noChangeAspect="1"/>
          </p:cNvPicPr>
          <p:nvPr/>
        </p:nvPicPr>
        <p:blipFill>
          <a:blip r:embed="rId2"/>
          <a:stretch>
            <a:fillRect/>
          </a:stretch>
        </p:blipFill>
        <p:spPr>
          <a:xfrm>
            <a:off x="6400800" y="1463040"/>
            <a:ext cx="5056632" cy="3273552"/>
          </a:xfrm>
          <a:prstGeom prst="rect">
            <a:avLst/>
          </a:prstGeom>
        </p:spPr>
      </p:pic>
      <p:sp>
        <p:nvSpPr>
          <p:cNvPr id="10" name="Text 6"/>
          <p:cNvSpPr txBox="1"/>
          <p:nvPr/>
        </p:nvSpPr>
        <p:spPr>
          <a:xfrm>
            <a:off x="6400800" y="4846320"/>
            <a:ext cx="5056632" cy="640080"/>
          </a:xfrm>
          <a:prstGeom prst="rect">
            <a:avLst/>
          </a:prstGeom>
          <a:noFill/>
          <a:ln/>
        </p:spPr>
        <p:txBody>
          <a:bodyPr wrap="square" lIns="0" tIns="0" rIns="0" bIns="0" rtlCol="0" anchor="t"/>
          <a:lstStyle/>
          <a:p>
            <a:pPr algn="l" indent="0" marL="0">
              <a:buNone/>
            </a:pPr>
            <a:r>
              <a:rPr lang="en-US" sz="1800" dirty="0">
                <a:solidFill>
                  <a:srgbClr val="7A7F88"/>
                </a:solidFill>
                <a:latin typeface="Calibri" pitchFamily="34" charset="0"/>
                <a:ea typeface="Calibri" pitchFamily="34" charset="-122"/>
                <a:cs typeface="Calibri" pitchFamily="34" charset="-120"/>
              </a:rPr>
              <a:t>Every cell around a Jakarta station, counted one by one.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claude-0/-home-user-SpotOn/d6f8d0e4-6af9-55ea-be62-fed6943cd5f4/scratchpad/assets/mark-ink.png">    </p:cNvPr>
          <p:cNvPicPr>
            <a:picLocks noChangeAspect="1"/>
          </p:cNvPicPr>
          <p:nvPr/>
        </p:nvPicPr>
        <p:blipFill>
          <a:blip r:embed="rId1"/>
          <a:stretch>
            <a:fillRect/>
          </a:stretch>
        </p:blipFill>
        <p:spPr>
          <a:xfrm>
            <a:off x="10561320" y="475488"/>
            <a:ext cx="365760" cy="365760"/>
          </a:xfrm>
          <a:prstGeom prst="rect">
            <a:avLst/>
          </a:prstGeom>
        </p:spPr>
      </p:pic>
      <p:sp>
        <p:nvSpPr>
          <p:cNvPr id="3" name="Text 0"/>
          <p:cNvSpPr txBox="1"/>
          <p:nvPr/>
        </p:nvSpPr>
        <p:spPr>
          <a:xfrm>
            <a:off x="10972800" y="475488"/>
            <a:ext cx="1097280" cy="365760"/>
          </a:xfrm>
          <a:prstGeom prst="rect">
            <a:avLst/>
          </a:prstGeom>
          <a:noFill/>
          <a:ln/>
        </p:spPr>
        <p:txBody>
          <a:bodyPr wrap="square" lIns="0" tIns="0" rIns="0" bIns="0" rtlCol="0" anchor="ctr"/>
          <a:lstStyle/>
          <a:p>
            <a:pPr algn="l" indent="0" marL="0">
              <a:buNone/>
            </a:pPr>
            <a:r>
              <a:rPr lang="en-US" sz="1800" b="1" dirty="0">
                <a:solidFill>
                  <a:srgbClr val="0B0C0E"/>
                </a:solidFill>
                <a:latin typeface="Calibri" pitchFamily="34" charset="0"/>
                <a:ea typeface="Calibri" pitchFamily="34" charset="-122"/>
                <a:cs typeface="Calibri" pitchFamily="34" charset="-120"/>
              </a:rPr>
              <a:t>SpotOn</a:t>
            </a:r>
            <a:endParaRPr lang="en-US" sz="1800" dirty="0"/>
          </a:p>
        </p:txBody>
      </p:sp>
      <p:sp>
        <p:nvSpPr>
          <p:cNvPr id="4" name="Text 1"/>
          <p:cNvSpPr txBox="1"/>
          <p:nvPr/>
        </p:nvSpPr>
        <p:spPr>
          <a:xfrm>
            <a:off x="731520" y="502920"/>
            <a:ext cx="7315200" cy="320040"/>
          </a:xfrm>
          <a:prstGeom prst="rect">
            <a:avLst/>
          </a:prstGeom>
          <a:noFill/>
          <a:ln/>
        </p:spPr>
        <p:txBody>
          <a:bodyPr wrap="square" lIns="0" tIns="0" rIns="0" bIns="0" rtlCol="0" anchor="t"/>
          <a:lstStyle/>
          <a:p>
            <a:pPr algn="l" indent="0" marL="0">
              <a:buNone/>
            </a:pPr>
            <a:r>
              <a:rPr lang="en-US" sz="1800" spc="150" kern="0" dirty="0">
                <a:solidFill>
                  <a:srgbClr val="7A7F88"/>
                </a:solidFill>
                <a:latin typeface="Calibri" pitchFamily="34" charset="0"/>
                <a:ea typeface="Calibri" pitchFamily="34" charset="-122"/>
                <a:cs typeface="Calibri" pitchFamily="34" charset="-120"/>
              </a:rPr>
              <a:t>WebGIS features</a:t>
            </a:r>
            <a:endParaRPr lang="en-US" sz="1800" dirty="0"/>
          </a:p>
        </p:txBody>
      </p:sp>
      <p:sp>
        <p:nvSpPr>
          <p:cNvPr id="5" name="Text 2"/>
          <p:cNvSpPr txBox="1"/>
          <p:nvPr/>
        </p:nvSpPr>
        <p:spPr>
          <a:xfrm>
            <a:off x="731520" y="914400"/>
            <a:ext cx="7315200" cy="1737360"/>
          </a:xfrm>
          <a:prstGeom prst="rect">
            <a:avLst/>
          </a:prstGeom>
          <a:noFill/>
          <a:ln/>
        </p:spPr>
        <p:txBody>
          <a:bodyPr wrap="square" lIns="0" tIns="0" rIns="0" bIns="0" rtlCol="0" anchor="t"/>
          <a:lstStyle/>
          <a:p>
            <a:pPr algn="l" indent="0" marL="0">
              <a:buNone/>
            </a:pPr>
            <a:r>
              <a:rPr lang="en-US" sz="3800" b="1" dirty="0">
                <a:solidFill>
                  <a:srgbClr val="0B0C0E"/>
                </a:solidFill>
                <a:latin typeface="Calibri" pitchFamily="34" charset="0"/>
                <a:ea typeface="Calibri" pitchFamily="34" charset="-122"/>
                <a:cs typeface="Calibri" pitchFamily="34" charset="-120"/>
              </a:rPr>
              <a:t>Everything a site visit tells you, before you go.</a:t>
            </a:r>
            <a:endParaRPr lang="en-US" sz="3800" dirty="0"/>
          </a:p>
        </p:txBody>
      </p:sp>
      <p:pic>
        <p:nvPicPr>
          <p:cNvPr id="6" name="Image 1" descr="/tmp/claude-0/-home-user-SpotOn/d6f8d0e4-6af9-55ea-be62-fed6943cd5f4/scratchpad/crops/app-rank-r.png">    </p:cNvPr>
          <p:cNvPicPr>
            <a:picLocks noChangeAspect="1"/>
          </p:cNvPicPr>
          <p:nvPr/>
        </p:nvPicPr>
        <p:blipFill>
          <a:blip r:embed="rId2"/>
          <a:stretch>
            <a:fillRect/>
          </a:stretch>
        </p:blipFill>
        <p:spPr>
          <a:xfrm>
            <a:off x="731520" y="2788920"/>
            <a:ext cx="6309360" cy="3547872"/>
          </a:xfrm>
          <a:prstGeom prst="rect">
            <a:avLst/>
          </a:prstGeom>
        </p:spPr>
      </p:pic>
      <p:sp>
        <p:nvSpPr>
          <p:cNvPr id="7" name="Text 3"/>
          <p:cNvSpPr txBox="1"/>
          <p:nvPr/>
        </p:nvSpPr>
        <p:spPr>
          <a:xfrm>
            <a:off x="7406640" y="2880360"/>
            <a:ext cx="4023360" cy="2377440"/>
          </a:xfrm>
          <a:prstGeom prst="rect">
            <a:avLst/>
          </a:prstGeom>
          <a:noFill/>
          <a:ln/>
        </p:spPr>
        <p:txBody>
          <a:bodyPr wrap="square" lIns="0" tIns="0" rIns="0" bIns="0" rtlCol="0" anchor="t"/>
          <a:lstStyle/>
          <a:p>
            <a:pPr indent="0" marL="0">
              <a:spcAft>
                <a:spcPts val="1000"/>
              </a:spcAft>
              <a:buNone/>
            </a:pPr>
            <a:r>
              <a:rPr lang="en-US" sz="2000" b="1" dirty="0">
                <a:solidFill>
                  <a:srgbClr val="0B0C0E"/>
                </a:solidFill>
                <a:latin typeface="Calibri" pitchFamily="34" charset="0"/>
                <a:ea typeface="Calibri" pitchFamily="34" charset="-122"/>
                <a:cs typeface="Calibri" pitchFamily="34" charset="-120"/>
              </a:rPr>
              <a:t>Ask, </a:t>
            </a:r>
            <a:pPr indent="0" marL="0">
              <a:spcAft>
                <a:spcPts val="1000"/>
              </a:spcAft>
              <a:buNone/>
            </a:pPr>
            <a:r>
              <a:rPr lang="en-US" sz="2000" dirty="0">
                <a:solidFill>
                  <a:srgbClr val="3A3D45"/>
                </a:solidFill>
                <a:latin typeface="Calibri" pitchFamily="34" charset="0"/>
                <a:ea typeface="Calibri" pitchFamily="34" charset="-122"/>
                <a:cs typeface="Calibri" pitchFamily="34" charset="-120"/>
              </a:rPr>
              <a:t>and the city recolours.</a:t>
            </a:r>
            <a:endParaRPr lang="en-US" sz="2000" dirty="0"/>
          </a:p>
          <a:p>
            <a:pPr indent="0" marL="0">
              <a:spcAft>
                <a:spcPts val="1000"/>
              </a:spcAft>
              <a:buNone/>
            </a:pPr>
            <a:r>
              <a:rPr lang="en-US" sz="2000" b="1" dirty="0">
                <a:solidFill>
                  <a:srgbClr val="0B0C0E"/>
                </a:solidFill>
                <a:latin typeface="Calibri" pitchFamily="34" charset="0"/>
                <a:ea typeface="Calibri" pitchFamily="34" charset="-122"/>
                <a:cs typeface="Calibri" pitchFamily="34" charset="-120"/>
              </a:rPr>
              <a:t>Open any area </a:t>
            </a:r>
            <a:pPr indent="0" marL="0">
              <a:spcAft>
                <a:spcPts val="1000"/>
              </a:spcAft>
              <a:buNone/>
            </a:pPr>
            <a:r>
              <a:rPr lang="en-US" sz="2000" dirty="0">
                <a:solidFill>
                  <a:srgbClr val="3A3D45"/>
                </a:solidFill>
                <a:latin typeface="Calibri" pitchFamily="34" charset="0"/>
                <a:ea typeface="Calibri" pitchFamily="34" charset="-122"/>
                <a:cs typeface="Calibri" pitchFamily="34" charset="-120"/>
              </a:rPr>
              <a:t>and see why.</a:t>
            </a:r>
            <a:endParaRPr lang="en-US" sz="2000" dirty="0"/>
          </a:p>
          <a:p>
            <a:pPr indent="0" marL="0">
              <a:spcAft>
                <a:spcPts val="1000"/>
              </a:spcAft>
              <a:buNone/>
            </a:pPr>
            <a:r>
              <a:rPr lang="en-US" sz="2000" b="1" dirty="0">
                <a:solidFill>
                  <a:srgbClr val="0B0C0E"/>
                </a:solidFill>
                <a:latin typeface="Calibri" pitchFamily="34" charset="0"/>
                <a:ea typeface="Calibri" pitchFamily="34" charset="-122"/>
                <a:cs typeface="Calibri" pitchFamily="34" charset="-120"/>
              </a:rPr>
              <a:t>Pick a real shop </a:t>
            </a:r>
            <a:pPr indent="0" marL="0">
              <a:spcAft>
                <a:spcPts val="1000"/>
              </a:spcAft>
              <a:buNone/>
            </a:pPr>
            <a:r>
              <a:rPr lang="en-US" sz="2000" dirty="0">
                <a:solidFill>
                  <a:srgbClr val="3A3D45"/>
                </a:solidFill>
                <a:latin typeface="Calibri" pitchFamily="34" charset="0"/>
                <a:ea typeface="Calibri" pitchFamily="34" charset="-122"/>
                <a:cs typeface="Calibri" pitchFamily="34" charset="-120"/>
              </a:rPr>
              <a:t>to rent, not a hexagon.</a:t>
            </a:r>
            <a:endParaRPr lang="en-US" sz="2000" dirty="0"/>
          </a:p>
        </p:txBody>
      </p:sp>
      <p:sp>
        <p:nvSpPr>
          <p:cNvPr id="8" name="Text 4"/>
          <p:cNvSpPr txBox="1"/>
          <p:nvPr/>
        </p:nvSpPr>
        <p:spPr>
          <a:xfrm>
            <a:off x="7406640" y="5349240"/>
            <a:ext cx="4023360" cy="914400"/>
          </a:xfrm>
          <a:prstGeom prst="rect">
            <a:avLst/>
          </a:prstGeom>
          <a:noFill/>
          <a:ln/>
        </p:spPr>
        <p:txBody>
          <a:bodyPr wrap="square" lIns="0" tIns="0" rIns="0" bIns="0" rtlCol="0" anchor="t"/>
          <a:lstStyle/>
          <a:p>
            <a:pPr algn="l" indent="0" marL="0">
              <a:buNone/>
            </a:pPr>
            <a:r>
              <a:rPr lang="en-US" sz="1800" dirty="0">
                <a:solidFill>
                  <a:srgbClr val="7A7F88"/>
                </a:solidFill>
                <a:latin typeface="Calibri" pitchFamily="34" charset="0"/>
                <a:ea typeface="Calibri" pitchFamily="34" charset="-122"/>
                <a:cs typeface="Calibri" pitchFamily="34" charset="-120"/>
              </a:rPr>
              <a:t>Indonesian or English. Laptop or phone. Free to look around.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claude-0/-home-user-SpotOn/d6f8d0e4-6af9-55ea-be62-fed6943cd5f4/scratchpad/assets/mark-ink.png">    </p:cNvPr>
          <p:cNvPicPr>
            <a:picLocks noChangeAspect="1"/>
          </p:cNvPicPr>
          <p:nvPr/>
        </p:nvPicPr>
        <p:blipFill>
          <a:blip r:embed="rId1"/>
          <a:stretch>
            <a:fillRect/>
          </a:stretch>
        </p:blipFill>
        <p:spPr>
          <a:xfrm>
            <a:off x="10561320" y="475488"/>
            <a:ext cx="365760" cy="365760"/>
          </a:xfrm>
          <a:prstGeom prst="rect">
            <a:avLst/>
          </a:prstGeom>
        </p:spPr>
      </p:pic>
      <p:sp>
        <p:nvSpPr>
          <p:cNvPr id="3" name="Text 0"/>
          <p:cNvSpPr txBox="1"/>
          <p:nvPr/>
        </p:nvSpPr>
        <p:spPr>
          <a:xfrm>
            <a:off x="10972800" y="475488"/>
            <a:ext cx="1097280" cy="365760"/>
          </a:xfrm>
          <a:prstGeom prst="rect">
            <a:avLst/>
          </a:prstGeom>
          <a:noFill/>
          <a:ln/>
        </p:spPr>
        <p:txBody>
          <a:bodyPr wrap="square" lIns="0" tIns="0" rIns="0" bIns="0" rtlCol="0" anchor="ctr"/>
          <a:lstStyle/>
          <a:p>
            <a:pPr algn="l" indent="0" marL="0">
              <a:buNone/>
            </a:pPr>
            <a:r>
              <a:rPr lang="en-US" sz="1800" b="1" dirty="0">
                <a:solidFill>
                  <a:srgbClr val="0B0C0E"/>
                </a:solidFill>
                <a:latin typeface="Calibri" pitchFamily="34" charset="0"/>
                <a:ea typeface="Calibri" pitchFamily="34" charset="-122"/>
                <a:cs typeface="Calibri" pitchFamily="34" charset="-120"/>
              </a:rPr>
              <a:t>SpotOn</a:t>
            </a:r>
            <a:endParaRPr lang="en-US" sz="1800" dirty="0"/>
          </a:p>
        </p:txBody>
      </p:sp>
      <p:sp>
        <p:nvSpPr>
          <p:cNvPr id="4" name="Text 1"/>
          <p:cNvSpPr txBox="1"/>
          <p:nvPr/>
        </p:nvSpPr>
        <p:spPr>
          <a:xfrm>
            <a:off x="731520" y="502920"/>
            <a:ext cx="7315200" cy="320040"/>
          </a:xfrm>
          <a:prstGeom prst="rect">
            <a:avLst/>
          </a:prstGeom>
          <a:noFill/>
          <a:ln/>
        </p:spPr>
        <p:txBody>
          <a:bodyPr wrap="square" lIns="0" tIns="0" rIns="0" bIns="0" rtlCol="0" anchor="t"/>
          <a:lstStyle/>
          <a:p>
            <a:pPr algn="l" indent="0" marL="0">
              <a:buNone/>
            </a:pPr>
            <a:r>
              <a:rPr lang="en-US" sz="1800" spc="150" kern="0" dirty="0">
                <a:solidFill>
                  <a:srgbClr val="7A7F88"/>
                </a:solidFill>
                <a:latin typeface="Calibri" pitchFamily="34" charset="0"/>
                <a:ea typeface="Calibri" pitchFamily="34" charset="-122"/>
                <a:cs typeface="Calibri" pitchFamily="34" charset="-120"/>
              </a:rPr>
              <a:t>Results and insights</a:t>
            </a:r>
            <a:endParaRPr lang="en-US" sz="1800" dirty="0"/>
          </a:p>
        </p:txBody>
      </p:sp>
      <p:sp>
        <p:nvSpPr>
          <p:cNvPr id="5" name="Text 2"/>
          <p:cNvSpPr txBox="1"/>
          <p:nvPr/>
        </p:nvSpPr>
        <p:spPr>
          <a:xfrm>
            <a:off x="731520" y="914400"/>
            <a:ext cx="5486400" cy="1737360"/>
          </a:xfrm>
          <a:prstGeom prst="rect">
            <a:avLst/>
          </a:prstGeom>
          <a:noFill/>
          <a:ln/>
        </p:spPr>
        <p:txBody>
          <a:bodyPr wrap="square" lIns="0" tIns="0" rIns="0" bIns="0" rtlCol="0" anchor="t"/>
          <a:lstStyle/>
          <a:p>
            <a:pPr algn="l" indent="0" marL="0">
              <a:buNone/>
            </a:pPr>
            <a:r>
              <a:rPr lang="en-US" sz="3800" b="1" dirty="0">
                <a:solidFill>
                  <a:srgbClr val="0B0C0E"/>
                </a:solidFill>
                <a:latin typeface="Calibri" pitchFamily="34" charset="0"/>
                <a:ea typeface="Calibri" pitchFamily="34" charset="-122"/>
                <a:cs typeface="Calibri" pitchFamily="34" charset="-120"/>
              </a:rPr>
              <a:t>Ask for a coffee shop. SpotOn says Rawa Selatan.</a:t>
            </a:r>
            <a:endParaRPr lang="en-US" sz="3800" dirty="0"/>
          </a:p>
        </p:txBody>
      </p:sp>
      <p:sp>
        <p:nvSpPr>
          <p:cNvPr id="6" name="Text 3"/>
          <p:cNvSpPr txBox="1"/>
          <p:nvPr/>
        </p:nvSpPr>
        <p:spPr>
          <a:xfrm>
            <a:off x="731520" y="2788920"/>
            <a:ext cx="5394960" cy="1463040"/>
          </a:xfrm>
          <a:prstGeom prst="rect">
            <a:avLst/>
          </a:prstGeom>
          <a:noFill/>
          <a:ln/>
        </p:spPr>
        <p:txBody>
          <a:bodyPr wrap="square" lIns="0" tIns="0" rIns="0" bIns="0" rtlCol="0" anchor="t"/>
          <a:lstStyle/>
          <a:p>
            <a:pPr algn="l" indent="0" marL="0">
              <a:buNone/>
            </a:pPr>
            <a:r>
              <a:rPr lang="en-US" sz="2000" dirty="0">
                <a:solidFill>
                  <a:srgbClr val="3A3D45"/>
                </a:solidFill>
                <a:latin typeface="Calibri" pitchFamily="34" charset="0"/>
                <a:ea typeface="Calibri" pitchFamily="34" charset="-122"/>
                <a:cs typeface="Calibri" pitchFamily="34" charset="-120"/>
              </a:rPr>
              <a:t>A busy street with only 5 coffee shops, 12 units up for rent and four transit stops within a walk. The best gap in the city, scored 65 out of 100.</a:t>
            </a:r>
            <a:endParaRPr lang="en-US" sz="2000" dirty="0"/>
          </a:p>
        </p:txBody>
      </p:sp>
      <p:sp>
        <p:nvSpPr>
          <p:cNvPr id="7" name="Text 4"/>
          <p:cNvSpPr txBox="1"/>
          <p:nvPr/>
        </p:nvSpPr>
        <p:spPr>
          <a:xfrm>
            <a:off x="731520" y="4297680"/>
            <a:ext cx="5394960" cy="1371600"/>
          </a:xfrm>
          <a:prstGeom prst="rect">
            <a:avLst/>
          </a:prstGeom>
          <a:noFill/>
          <a:ln/>
        </p:spPr>
        <p:txBody>
          <a:bodyPr wrap="square" lIns="0" tIns="0" rIns="0" bIns="0" rtlCol="0" anchor="t"/>
          <a:lstStyle/>
          <a:p>
            <a:pPr algn="l" indent="0" marL="0">
              <a:buNone/>
            </a:pPr>
            <a:r>
              <a:rPr lang="en-US" sz="2000" dirty="0">
                <a:solidFill>
                  <a:srgbClr val="3A3D45"/>
                </a:solidFill>
                <a:latin typeface="Calibri" pitchFamily="34" charset="0"/>
                <a:ea typeface="Calibri" pitchFamily="34" charset="-122"/>
                <a:cs typeface="Calibri" pitchFamily="34" charset="-120"/>
              </a:rPr>
              <a:t>It also says where not to go: 17 areas are already full of coffee shops. And where nobody has looked yet, it says so instead of guessing.</a:t>
            </a:r>
            <a:endParaRPr lang="en-US" sz="2000" dirty="0"/>
          </a:p>
        </p:txBody>
      </p:sp>
      <p:sp>
        <p:nvSpPr>
          <p:cNvPr id="8" name="Text 5"/>
          <p:cNvSpPr txBox="1"/>
          <p:nvPr/>
        </p:nvSpPr>
        <p:spPr>
          <a:xfrm>
            <a:off x="731520" y="5715000"/>
            <a:ext cx="5394960" cy="548640"/>
          </a:xfrm>
          <a:prstGeom prst="rect">
            <a:avLst/>
          </a:prstGeom>
          <a:noFill/>
          <a:ln/>
        </p:spPr>
        <p:txBody>
          <a:bodyPr wrap="square" lIns="0" tIns="0" rIns="0" bIns="0" rtlCol="0" anchor="t"/>
          <a:lstStyle/>
          <a:p>
            <a:pPr algn="l" indent="0" marL="0">
              <a:buNone/>
            </a:pPr>
            <a:r>
              <a:rPr lang="en-US" sz="1800" dirty="0">
                <a:solidFill>
                  <a:srgbClr val="7A7F88"/>
                </a:solidFill>
                <a:latin typeface="Calibri" pitchFamily="34" charset="0"/>
                <a:ea typeface="Calibri" pitchFamily="34" charset="-122"/>
                <a:cs typeface="Calibri" pitchFamily="34" charset="-120"/>
              </a:rPr>
              <a:t>Every number on screen comes from the data, never from the AI.</a:t>
            </a:r>
            <a:endParaRPr lang="en-US" sz="1800" dirty="0"/>
          </a:p>
        </p:txBody>
      </p:sp>
      <p:pic>
        <p:nvPicPr>
          <p:cNvPr id="9" name="Image 1" descr="/tmp/claude-0/-home-user-SpotOn/d6f8d0e4-6af9-55ea-be62-fed6943cd5f4/scratchpad/crops/map-3d-r.png">    </p:cNvPr>
          <p:cNvPicPr>
            <a:picLocks noChangeAspect="1"/>
          </p:cNvPicPr>
          <p:nvPr/>
        </p:nvPicPr>
        <p:blipFill>
          <a:blip r:embed="rId2"/>
          <a:stretch>
            <a:fillRect/>
          </a:stretch>
        </p:blipFill>
        <p:spPr>
          <a:xfrm>
            <a:off x="6583680" y="868680"/>
            <a:ext cx="4873752" cy="3822192"/>
          </a:xfrm>
          <a:prstGeom prst="rect">
            <a:avLst/>
          </a:prstGeom>
        </p:spPr>
      </p:pic>
      <p:pic>
        <p:nvPicPr>
          <p:cNvPr id="10" name="Image 2" descr="/tmp/claude-0/-home-user-SpotOn/d6f8d0e4-6af9-55ea-be62-fed6943cd5f4/scratchpad/crops/area-breakdown-r.png">    </p:cNvPr>
          <p:cNvPicPr>
            <a:picLocks noChangeAspect="1"/>
          </p:cNvPicPr>
          <p:nvPr/>
        </p:nvPicPr>
        <p:blipFill>
          <a:blip r:embed="rId3"/>
          <a:stretch>
            <a:fillRect/>
          </a:stretch>
        </p:blipFill>
        <p:spPr>
          <a:xfrm>
            <a:off x="6583680" y="4846320"/>
            <a:ext cx="1005840" cy="1453896"/>
          </a:xfrm>
          <a:prstGeom prst="rect">
            <a:avLst/>
          </a:prstGeom>
        </p:spPr>
      </p:pic>
      <p:sp>
        <p:nvSpPr>
          <p:cNvPr id="11" name="Text 6"/>
          <p:cNvSpPr txBox="1"/>
          <p:nvPr/>
        </p:nvSpPr>
        <p:spPr>
          <a:xfrm>
            <a:off x="7772400" y="4892040"/>
            <a:ext cx="3657600" cy="1097280"/>
          </a:xfrm>
          <a:prstGeom prst="rect">
            <a:avLst/>
          </a:prstGeom>
          <a:noFill/>
          <a:ln/>
        </p:spPr>
        <p:txBody>
          <a:bodyPr wrap="square" lIns="0" tIns="0" rIns="0" bIns="0" rtlCol="0" anchor="t"/>
          <a:lstStyle/>
          <a:p>
            <a:pPr algn="l" indent="0" marL="0">
              <a:buNone/>
            </a:pPr>
            <a:r>
              <a:rPr lang="en-US" sz="1800" dirty="0">
                <a:solidFill>
                  <a:srgbClr val="7A7F88"/>
                </a:solidFill>
                <a:latin typeface="Calibri" pitchFamily="34" charset="0"/>
                <a:ea typeface="Calibri" pitchFamily="34" charset="-122"/>
                <a:cs typeface="Calibri" pitchFamily="34" charset="-120"/>
              </a:rPr>
              <a:t>The city, scored for coffee shops, and the card that explains one answer.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mp/claude-0/-home-user-SpotOn/d6f8d0e4-6af9-55ea-be62-fed6943cd5f4/scratchpad/assets/mark-ink.png">    </p:cNvPr>
          <p:cNvPicPr>
            <a:picLocks noChangeAspect="1"/>
          </p:cNvPicPr>
          <p:nvPr/>
        </p:nvPicPr>
        <p:blipFill>
          <a:blip r:embed="rId1"/>
          <a:stretch>
            <a:fillRect/>
          </a:stretch>
        </p:blipFill>
        <p:spPr>
          <a:xfrm>
            <a:off x="10561320" y="475488"/>
            <a:ext cx="365760" cy="365760"/>
          </a:xfrm>
          <a:prstGeom prst="rect">
            <a:avLst/>
          </a:prstGeom>
        </p:spPr>
      </p:pic>
      <p:sp>
        <p:nvSpPr>
          <p:cNvPr id="3" name="Text 0"/>
          <p:cNvSpPr txBox="1"/>
          <p:nvPr/>
        </p:nvSpPr>
        <p:spPr>
          <a:xfrm>
            <a:off x="10972800" y="475488"/>
            <a:ext cx="1097280" cy="365760"/>
          </a:xfrm>
          <a:prstGeom prst="rect">
            <a:avLst/>
          </a:prstGeom>
          <a:noFill/>
          <a:ln/>
        </p:spPr>
        <p:txBody>
          <a:bodyPr wrap="square" lIns="0" tIns="0" rIns="0" bIns="0" rtlCol="0" anchor="ctr"/>
          <a:lstStyle/>
          <a:p>
            <a:pPr algn="l" indent="0" marL="0">
              <a:buNone/>
            </a:pPr>
            <a:r>
              <a:rPr lang="en-US" sz="1800" b="1" dirty="0">
                <a:solidFill>
                  <a:srgbClr val="0B0C0E"/>
                </a:solidFill>
                <a:latin typeface="Calibri" pitchFamily="34" charset="0"/>
                <a:ea typeface="Calibri" pitchFamily="34" charset="-122"/>
                <a:cs typeface="Calibri" pitchFamily="34" charset="-120"/>
              </a:rPr>
              <a:t>SpotOn</a:t>
            </a:r>
            <a:endParaRPr lang="en-US" sz="1800" dirty="0"/>
          </a:p>
        </p:txBody>
      </p:sp>
      <p:sp>
        <p:nvSpPr>
          <p:cNvPr id="4" name="Text 1"/>
          <p:cNvSpPr txBox="1"/>
          <p:nvPr/>
        </p:nvSpPr>
        <p:spPr>
          <a:xfrm>
            <a:off x="731520" y="502920"/>
            <a:ext cx="7315200" cy="320040"/>
          </a:xfrm>
          <a:prstGeom prst="rect">
            <a:avLst/>
          </a:prstGeom>
          <a:noFill/>
          <a:ln/>
        </p:spPr>
        <p:txBody>
          <a:bodyPr wrap="square" lIns="0" tIns="0" rIns="0" bIns="0" rtlCol="0" anchor="t"/>
          <a:lstStyle/>
          <a:p>
            <a:pPr algn="l" indent="0" marL="0">
              <a:buNone/>
            </a:pPr>
            <a:r>
              <a:rPr lang="en-US" sz="1800" spc="150" kern="0" dirty="0">
                <a:solidFill>
                  <a:srgbClr val="7A7F88"/>
                </a:solidFill>
                <a:latin typeface="Calibri" pitchFamily="34" charset="0"/>
                <a:ea typeface="Calibri" pitchFamily="34" charset="-122"/>
                <a:cs typeface="Calibri" pitchFamily="34" charset="-120"/>
              </a:rPr>
              <a:t>Impact and closing</a:t>
            </a:r>
            <a:endParaRPr lang="en-US" sz="1800" dirty="0"/>
          </a:p>
        </p:txBody>
      </p:sp>
      <p:sp>
        <p:nvSpPr>
          <p:cNvPr id="5" name="Text 2"/>
          <p:cNvSpPr txBox="1"/>
          <p:nvPr/>
        </p:nvSpPr>
        <p:spPr>
          <a:xfrm>
            <a:off x="731520" y="914400"/>
            <a:ext cx="6400800" cy="1737360"/>
          </a:xfrm>
          <a:prstGeom prst="rect">
            <a:avLst/>
          </a:prstGeom>
          <a:noFill/>
          <a:ln/>
        </p:spPr>
        <p:txBody>
          <a:bodyPr wrap="square" lIns="0" tIns="0" rIns="0" bIns="0" rtlCol="0" anchor="t"/>
          <a:lstStyle/>
          <a:p>
            <a:pPr algn="l" indent="0" marL="0">
              <a:buNone/>
            </a:pPr>
            <a:r>
              <a:rPr lang="en-US" sz="3800" b="1" dirty="0">
                <a:solidFill>
                  <a:srgbClr val="0B0C0E"/>
                </a:solidFill>
                <a:latin typeface="Calibri" pitchFamily="34" charset="0"/>
                <a:ea typeface="Calibri" pitchFamily="34" charset="-122"/>
                <a:cs typeface="Calibri" pitchFamily="34" charset="-120"/>
              </a:rPr>
              <a:t>Fewer wrong leases. More shops that last.</a:t>
            </a:r>
            <a:endParaRPr lang="en-US" sz="3800" dirty="0"/>
          </a:p>
        </p:txBody>
      </p:sp>
      <p:sp>
        <p:nvSpPr>
          <p:cNvPr id="6" name="Text 3"/>
          <p:cNvSpPr txBox="1"/>
          <p:nvPr/>
        </p:nvSpPr>
        <p:spPr>
          <a:xfrm>
            <a:off x="731520" y="2788920"/>
            <a:ext cx="6400800" cy="3474720"/>
          </a:xfrm>
          <a:prstGeom prst="rect">
            <a:avLst/>
          </a:prstGeom>
          <a:noFill/>
          <a:ln/>
        </p:spPr>
        <p:txBody>
          <a:bodyPr wrap="square" lIns="0" tIns="0" rIns="0" bIns="0" rtlCol="0" anchor="t"/>
          <a:lstStyle/>
          <a:p>
            <a:pPr indent="0" marL="0">
              <a:spcAft>
                <a:spcPts val="1000"/>
              </a:spcAft>
              <a:buNone/>
            </a:pPr>
            <a:r>
              <a:rPr lang="en-US" sz="2000" b="1" dirty="0">
                <a:solidFill>
                  <a:srgbClr val="0B0C0E"/>
                </a:solidFill>
                <a:latin typeface="Calibri" pitchFamily="34" charset="0"/>
                <a:ea typeface="Calibri" pitchFamily="34" charset="-122"/>
                <a:cs typeface="Calibri" pitchFamily="34" charset="-120"/>
              </a:rPr>
              <a:t>Benefits. </a:t>
            </a:r>
            <a:pPr indent="0" marL="0">
              <a:spcAft>
                <a:spcPts val="1000"/>
              </a:spcAft>
              <a:buNone/>
            </a:pPr>
            <a:r>
              <a:rPr lang="en-US" sz="2000" dirty="0">
                <a:solidFill>
                  <a:srgbClr val="3A3D45"/>
                </a:solidFill>
                <a:latin typeface="Calibri" pitchFamily="34" charset="0"/>
                <a:ea typeface="Calibri" pitchFamily="34" charset="-122"/>
                <a:cs typeface="Calibri" pitchFamily="34" charset="-120"/>
              </a:rPr>
              <a:t>A shortlist you can defend, in minutes, with no GIS skills.</a:t>
            </a:r>
            <a:endParaRPr lang="en-US" sz="2000" dirty="0"/>
          </a:p>
          <a:p>
            <a:pPr indent="0" marL="0">
              <a:spcAft>
                <a:spcPts val="1000"/>
              </a:spcAft>
              <a:buNone/>
            </a:pPr>
            <a:r>
              <a:rPr lang="en-US" sz="2000" b="1" dirty="0">
                <a:solidFill>
                  <a:srgbClr val="0B0C0E"/>
                </a:solidFill>
                <a:latin typeface="Calibri" pitchFamily="34" charset="0"/>
                <a:ea typeface="Calibri" pitchFamily="34" charset="-122"/>
                <a:cs typeface="Calibri" pitchFamily="34" charset="-120"/>
              </a:rPr>
              <a:t>Applications. </a:t>
            </a:r>
            <a:pPr indent="0" marL="0">
              <a:spcAft>
                <a:spcPts val="1000"/>
              </a:spcAft>
              <a:buNone/>
            </a:pPr>
            <a:r>
              <a:rPr lang="en-US" sz="2000" dirty="0">
                <a:solidFill>
                  <a:srgbClr val="3A3D45"/>
                </a:solidFill>
                <a:latin typeface="Calibri" pitchFamily="34" charset="0"/>
                <a:ea typeface="Calibri" pitchFamily="34" charset="-122"/>
                <a:cs typeface="Calibri" pitchFamily="34" charset="-120"/>
              </a:rPr>
              <a:t>First shops, franchise expansion, agents matching tenants, and any city with a transit map.</a:t>
            </a:r>
            <a:endParaRPr lang="en-US" sz="2000" dirty="0"/>
          </a:p>
          <a:p>
            <a:pPr indent="0" marL="0">
              <a:spcAft>
                <a:spcPts val="1000"/>
              </a:spcAft>
              <a:buNone/>
            </a:pPr>
            <a:r>
              <a:rPr lang="en-US" sz="2000" b="1" dirty="0">
                <a:solidFill>
                  <a:srgbClr val="0B0C0E"/>
                </a:solidFill>
                <a:latin typeface="Calibri" pitchFamily="34" charset="0"/>
                <a:ea typeface="Calibri" pitchFamily="34" charset="-122"/>
                <a:cs typeface="Calibri" pitchFamily="34" charset="-120"/>
              </a:rPr>
              <a:t>Next. </a:t>
            </a:r>
            <a:pPr indent="0" marL="0">
              <a:spcAft>
                <a:spcPts val="1000"/>
              </a:spcAft>
              <a:buNone/>
            </a:pPr>
            <a:r>
              <a:rPr lang="en-US" sz="2000" dirty="0">
                <a:solidFill>
                  <a:srgbClr val="3A3D45"/>
                </a:solidFill>
                <a:latin typeface="Calibri" pitchFamily="34" charset="0"/>
                <a:ea typeface="Calibri" pitchFamily="34" charset="-122"/>
                <a:cs typeface="Calibri" pitchFamily="34" charset="-120"/>
              </a:rPr>
              <a:t>More streets walked, rent listings, and Bandung and Surabaya.</a:t>
            </a:r>
            <a:endParaRPr lang="en-US" sz="2000" dirty="0"/>
          </a:p>
          <a:p>
            <a:pPr indent="0" marL="0">
              <a:spcAft>
                <a:spcPts val="1000"/>
              </a:spcAft>
              <a:buNone/>
            </a:pPr>
            <a:r>
              <a:rPr lang="en-US" sz="2000" b="1" dirty="0">
                <a:solidFill>
                  <a:srgbClr val="0B0C0E"/>
                </a:solidFill>
                <a:latin typeface="Calibri" pitchFamily="34" charset="0"/>
                <a:ea typeface="Calibri" pitchFamily="34" charset="-122"/>
                <a:cs typeface="Calibri" pitchFamily="34" charset="-120"/>
              </a:rPr>
              <a:t>Conclusion. </a:t>
            </a:r>
            <a:pPr indent="0" marL="0">
              <a:spcAft>
                <a:spcPts val="1000"/>
              </a:spcAft>
              <a:buNone/>
            </a:pPr>
            <a:r>
              <a:rPr lang="en-US" sz="2000" dirty="0">
                <a:solidFill>
                  <a:srgbClr val="3A3D45"/>
                </a:solidFill>
                <a:latin typeface="Calibri" pitchFamily="34" charset="0"/>
                <a:ea typeface="Calibri" pitchFamily="34" charset="-122"/>
                <a:cs typeface="Calibri" pitchFamily="34" charset="-120"/>
              </a:rPr>
              <a:t>Don't guess where to open. Ask the map.</a:t>
            </a:r>
            <a:endParaRPr lang="en-US" sz="2000" dirty="0"/>
          </a:p>
        </p:txBody>
      </p:sp>
      <p:pic>
        <p:nvPicPr>
          <p:cNvPr id="7" name="Image 1" descr="/tmp/claude-0/-home-user-SpotOn/d6f8d0e4-6af9-55ea-be62-fed6943cd5f4/scratchpad/crops/why-r.png">    </p:cNvPr>
          <p:cNvPicPr>
            <a:picLocks noChangeAspect="1"/>
          </p:cNvPicPr>
          <p:nvPr/>
        </p:nvPicPr>
        <p:blipFill>
          <a:blip r:embed="rId2"/>
          <a:stretch>
            <a:fillRect/>
          </a:stretch>
        </p:blipFill>
        <p:spPr>
          <a:xfrm>
            <a:off x="7863840" y="868680"/>
            <a:ext cx="2395728" cy="5349240"/>
          </a:xfrm>
          <a:prstGeom prst="rect">
            <a:avLst/>
          </a:prstGeom>
        </p:spPr>
      </p:pic>
      <p:sp>
        <p:nvSpPr>
          <p:cNvPr id="8" name="Text 4"/>
          <p:cNvSpPr txBox="1"/>
          <p:nvPr/>
        </p:nvSpPr>
        <p:spPr>
          <a:xfrm>
            <a:off x="10378440" y="5120640"/>
            <a:ext cx="1463040" cy="1097280"/>
          </a:xfrm>
          <a:prstGeom prst="rect">
            <a:avLst/>
          </a:prstGeom>
          <a:noFill/>
          <a:ln/>
        </p:spPr>
        <p:txBody>
          <a:bodyPr wrap="square" lIns="0" tIns="0" rIns="0" bIns="0" rtlCol="0" anchor="t"/>
          <a:lstStyle/>
          <a:p>
            <a:pPr algn="l" indent="0" marL="0">
              <a:buNone/>
            </a:pPr>
            <a:r>
              <a:rPr lang="en-US" sz="1800" dirty="0">
                <a:solidFill>
                  <a:srgbClr val="7A7F88"/>
                </a:solidFill>
                <a:latin typeface="Calibri" pitchFamily="34" charset="0"/>
                <a:ea typeface="Calibri" pitchFamily="34" charset="-122"/>
                <a:cs typeface="Calibri" pitchFamily="34" charset="-120"/>
              </a:rPr>
              <a:t>Every answer comes with its reasons.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C0E"/>
        </a:solidFill>
      </p:bgPr>
    </p:bg>
    <p:spTree>
      <p:nvGrpSpPr>
        <p:cNvPr id="1" name=""/>
        <p:cNvGrpSpPr/>
        <p:nvPr/>
      </p:nvGrpSpPr>
      <p:grpSpPr>
        <a:xfrm>
          <a:off x="0" y="0"/>
          <a:ext cx="0" cy="0"/>
          <a:chOff x="0" y="0"/>
          <a:chExt cx="0" cy="0"/>
        </a:xfrm>
      </p:grpSpPr>
      <p:pic>
        <p:nvPicPr>
          <p:cNvPr id="2" name="Image 0" descr="/tmp/claude-0/-home-user-SpotOn/d6f8d0e4-6af9-55ea-be62-fed6943cd5f4/scratchpad/crops/map-3d.png">    </p:cNvPr>
          <p:cNvPicPr>
            <a:picLocks noChangeAspect="1"/>
          </p:cNvPicPr>
          <p:nvPr/>
        </p:nvPicPr>
        <p:blipFill>
          <a:blip r:embed="rId1">
            <a:alphaModFix amt="38000"/>
          </a:blip>
          <a:srcRect l="0" r="0" t="0" b="0"/>
          <a:stretch/>
        </p:blipFill>
        <p:spPr>
          <a:xfrm>
            <a:off x="6309360" y="0"/>
            <a:ext cx="5879592" cy="6858000"/>
          </a:xfrm>
          <a:prstGeom prst="rect">
            <a:avLst/>
          </a:prstGeom>
        </p:spPr>
      </p:pic>
      <p:pic>
        <p:nvPicPr>
          <p:cNvPr id="3" name="Image 1" descr="/tmp/claude-0/-home-user-SpotOn/d6f8d0e4-6af9-55ea-be62-fed6943cd5f4/scratchpad/assets/mark-white.png">    </p:cNvPr>
          <p:cNvPicPr>
            <a:picLocks noChangeAspect="1"/>
          </p:cNvPicPr>
          <p:nvPr/>
        </p:nvPicPr>
        <p:blipFill>
          <a:blip r:embed="rId2"/>
          <a:stretch>
            <a:fillRect/>
          </a:stretch>
        </p:blipFill>
        <p:spPr>
          <a:xfrm>
            <a:off x="731520" y="640080"/>
            <a:ext cx="566928" cy="566928"/>
          </a:xfrm>
          <a:prstGeom prst="rect">
            <a:avLst/>
          </a:prstGeom>
        </p:spPr>
      </p:pic>
      <p:sp>
        <p:nvSpPr>
          <p:cNvPr id="4" name="Text 0"/>
          <p:cNvSpPr txBox="1"/>
          <p:nvPr/>
        </p:nvSpPr>
        <p:spPr>
          <a:xfrm>
            <a:off x="1417320" y="640080"/>
            <a:ext cx="2743200" cy="56692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SpotOn</a:t>
            </a:r>
            <a:endParaRPr lang="en-US" sz="2800" dirty="0"/>
          </a:p>
        </p:txBody>
      </p:sp>
      <p:sp>
        <p:nvSpPr>
          <p:cNvPr id="5" name="Text 1"/>
          <p:cNvSpPr txBox="1"/>
          <p:nvPr/>
        </p:nvSpPr>
        <p:spPr>
          <a:xfrm>
            <a:off x="731520" y="1737360"/>
            <a:ext cx="5486400" cy="914400"/>
          </a:xfrm>
          <a:prstGeom prst="rect">
            <a:avLst/>
          </a:prstGeom>
          <a:noFill/>
          <a:ln/>
        </p:spPr>
        <p:txBody>
          <a:bodyPr wrap="square" lIns="0" tIns="0" rIns="0" bIns="0" rtlCol="0" anchor="t"/>
          <a:lstStyle/>
          <a:p>
            <a:pPr algn="l" indent="0" marL="0">
              <a:buNone/>
            </a:pPr>
            <a:r>
              <a:rPr lang="en-US" sz="4400" b="1" dirty="0">
                <a:solidFill>
                  <a:srgbClr val="FFFFFF"/>
                </a:solidFill>
                <a:latin typeface="Calibri" pitchFamily="34" charset="0"/>
                <a:ea typeface="Calibri" pitchFamily="34" charset="-122"/>
                <a:cs typeface="Calibri" pitchFamily="34" charset="-120"/>
              </a:rPr>
              <a:t>Ask the map.</a:t>
            </a:r>
            <a:endParaRPr lang="en-US" sz="4400" dirty="0"/>
          </a:p>
        </p:txBody>
      </p:sp>
      <p:sp>
        <p:nvSpPr>
          <p:cNvPr id="6" name="Text 2"/>
          <p:cNvSpPr txBox="1"/>
          <p:nvPr/>
        </p:nvSpPr>
        <p:spPr>
          <a:xfrm>
            <a:off x="731520" y="2651760"/>
            <a:ext cx="5120640" cy="731520"/>
          </a:xfrm>
          <a:prstGeom prst="rect">
            <a:avLst/>
          </a:prstGeom>
          <a:noFill/>
          <a:ln/>
        </p:spPr>
        <p:txBody>
          <a:bodyPr wrap="square" lIns="0" tIns="0" rIns="0" bIns="0" rtlCol="0" anchor="t"/>
          <a:lstStyle/>
          <a:p>
            <a:pPr algn="l" indent="0" marL="0">
              <a:buNone/>
            </a:pPr>
            <a:r>
              <a:rPr lang="en-US" sz="2000" dirty="0">
                <a:solidFill>
                  <a:srgbClr val="C9CDD4"/>
                </a:solidFill>
                <a:latin typeface="Calibri" pitchFamily="34" charset="0"/>
                <a:ea typeface="Calibri" pitchFamily="34" charset="-122"/>
                <a:cs typeface="Calibri" pitchFamily="34" charset="-120"/>
              </a:rPr>
              <a:t>Thank you. Come and ask it something at our booth.</a:t>
            </a:r>
            <a:endParaRPr lang="en-US" sz="2000" dirty="0"/>
          </a:p>
        </p:txBody>
      </p:sp>
      <p:sp>
        <p:nvSpPr>
          <p:cNvPr id="7" name="Shape 3"/>
          <p:cNvSpPr/>
          <p:nvPr/>
        </p:nvSpPr>
        <p:spPr>
          <a:xfrm>
            <a:off x="731520" y="3566160"/>
            <a:ext cx="2011680" cy="2011680"/>
          </a:xfrm>
          <a:prstGeom prst="roundRect">
            <a:avLst>
              <a:gd name="adj" fmla="val 6818"/>
            </a:avLst>
          </a:prstGeom>
          <a:solidFill>
            <a:srgbClr val="FFFFFF"/>
          </a:solidFill>
          <a:ln w="12700">
            <a:solidFill>
              <a:srgbClr val="FFFFFF"/>
            </a:solidFill>
            <a:prstDash val="solid"/>
          </a:ln>
        </p:spPr>
      </p:sp>
      <p:pic>
        <p:nvPicPr>
          <p:cNvPr id="8" name="Image 2" descr="/tmp/claude-0/-home-user-SpotOn/d6f8d0e4-6af9-55ea-be62-fed6943cd5f4/scratchpad/assets/qr.png">    </p:cNvPr>
          <p:cNvPicPr>
            <a:picLocks noChangeAspect="1"/>
          </p:cNvPicPr>
          <p:nvPr/>
        </p:nvPicPr>
        <p:blipFill>
          <a:blip r:embed="rId3"/>
          <a:stretch>
            <a:fillRect/>
          </a:stretch>
        </p:blipFill>
        <p:spPr>
          <a:xfrm>
            <a:off x="868680" y="3703320"/>
            <a:ext cx="1737360" cy="1737360"/>
          </a:xfrm>
          <a:prstGeom prst="rect">
            <a:avLst/>
          </a:prstGeom>
        </p:spPr>
      </p:pic>
      <p:sp>
        <p:nvSpPr>
          <p:cNvPr id="9" name="Text 4"/>
          <p:cNvSpPr txBox="1"/>
          <p:nvPr/>
        </p:nvSpPr>
        <p:spPr>
          <a:xfrm>
            <a:off x="3017520" y="3657600"/>
            <a:ext cx="3108960" cy="914400"/>
          </a:xfrm>
          <a:prstGeom prst="rect">
            <a:avLst/>
          </a:prstGeom>
          <a:noFill/>
          <a:ln/>
        </p:spPr>
        <p:txBody>
          <a:bodyPr wrap="square" lIns="0" tIns="0" rIns="0" bIns="0" rtlCol="0" anchor="t"/>
          <a:lstStyle/>
          <a:p>
            <a:pPr algn="l" indent="0" marL="0">
              <a:buNone/>
            </a:pPr>
            <a:r>
              <a:rPr lang="en-US" sz="2400" b="1" dirty="0">
                <a:solidFill>
                  <a:srgbClr val="FFFFFF"/>
                </a:solidFill>
                <a:latin typeface="Calibri" pitchFamily="34" charset="0"/>
                <a:ea typeface="Calibri" pitchFamily="34" charset="-122"/>
                <a:cs typeface="Calibri" pitchFamily="34" charset="-120"/>
              </a:rPr>
              <a:t>spot-on-three.</a:t>
            </a:r>
            <a:endParaRPr lang="en-US" sz="2400" dirty="0"/>
          </a:p>
          <a:p>
            <a:pPr algn="l" indent="0" marL="0">
              <a:buNone/>
            </a:pPr>
            <a:r>
              <a:rPr lang="en-US" sz="2400" b="1" dirty="0">
                <a:solidFill>
                  <a:srgbClr val="FFFFFF"/>
                </a:solidFill>
                <a:latin typeface="Calibri" pitchFamily="34" charset="0"/>
                <a:ea typeface="Calibri" pitchFamily="34" charset="-122"/>
                <a:cs typeface="Calibri" pitchFamily="34" charset="-120"/>
              </a:rPr>
              <a:t>vercel.app</a:t>
            </a:r>
            <a:endParaRPr lang="en-US" sz="2400" dirty="0"/>
          </a:p>
        </p:txBody>
      </p:sp>
      <p:sp>
        <p:nvSpPr>
          <p:cNvPr id="10" name="Text 5"/>
          <p:cNvSpPr txBox="1"/>
          <p:nvPr/>
        </p:nvSpPr>
        <p:spPr>
          <a:xfrm>
            <a:off x="3017520" y="4617720"/>
            <a:ext cx="3108960" cy="640080"/>
          </a:xfrm>
          <a:prstGeom prst="rect">
            <a:avLst/>
          </a:prstGeom>
          <a:noFill/>
          <a:ln/>
        </p:spPr>
        <p:txBody>
          <a:bodyPr wrap="square" lIns="0" tIns="0" rIns="0" bIns="0" rtlCol="0" anchor="t"/>
          <a:lstStyle/>
          <a:p>
            <a:pPr algn="l" indent="0" marL="0">
              <a:buNone/>
            </a:pPr>
            <a:r>
              <a:rPr lang="en-US" sz="1800" dirty="0">
                <a:solidFill>
                  <a:srgbClr val="C9CDD4"/>
                </a:solidFill>
                <a:latin typeface="Calibri" pitchFamily="34" charset="0"/>
                <a:ea typeface="Calibri" pitchFamily="34" charset="-122"/>
                <a:cs typeface="Calibri" pitchFamily="34" charset="-120"/>
              </a:rPr>
              <a:t>Free to open, on a laptop or a phone.</a:t>
            </a:r>
            <a:endParaRPr lang="en-US" sz="1800" dirty="0"/>
          </a:p>
        </p:txBody>
      </p:sp>
      <p:sp>
        <p:nvSpPr>
          <p:cNvPr id="11" name="Text 6"/>
          <p:cNvSpPr txBox="1"/>
          <p:nvPr/>
        </p:nvSpPr>
        <p:spPr>
          <a:xfrm>
            <a:off x="731520" y="5760720"/>
            <a:ext cx="5486400" cy="365760"/>
          </a:xfrm>
          <a:prstGeom prst="rect">
            <a:avLst/>
          </a:prstGeom>
          <a:noFill/>
          <a:ln/>
        </p:spPr>
        <p:txBody>
          <a:bodyPr wrap="square" lIns="0" tIns="0" rIns="0" bIns="0" rtlCol="0" anchor="t"/>
          <a:lstStyle/>
          <a:p>
            <a:pPr algn="l" indent="0" marL="0">
              <a:buNone/>
            </a:pPr>
            <a:r>
              <a:rPr lang="en-US" sz="1800" b="1" dirty="0">
                <a:solidFill>
                  <a:srgbClr val="FFFFFF"/>
                </a:solidFill>
                <a:latin typeface="Calibri" pitchFamily="34" charset="0"/>
                <a:ea typeface="Calibri" pitchFamily="34" charset="-122"/>
                <a:cs typeface="Calibri" pitchFamily="34" charset="-120"/>
              </a:rPr>
              <a:t>Team Triple T, Universitas Bina Nusantara</a:t>
            </a:r>
            <a:endParaRPr lang="en-US" sz="1800" dirty="0"/>
          </a:p>
        </p:txBody>
      </p:sp>
      <p:sp>
        <p:nvSpPr>
          <p:cNvPr id="12" name="Text 7"/>
          <p:cNvSpPr txBox="1"/>
          <p:nvPr/>
        </p:nvSpPr>
        <p:spPr>
          <a:xfrm>
            <a:off x="731520" y="6126480"/>
            <a:ext cx="5486400" cy="548640"/>
          </a:xfrm>
          <a:prstGeom prst="rect">
            <a:avLst/>
          </a:prstGeom>
          <a:noFill/>
          <a:ln/>
        </p:spPr>
        <p:txBody>
          <a:bodyPr wrap="square" lIns="0" tIns="0" rIns="0" bIns="0" rtlCol="0" anchor="t"/>
          <a:lstStyle/>
          <a:p>
            <a:pPr algn="l" indent="0" marL="0">
              <a:buNone/>
            </a:pPr>
            <a:r>
              <a:rPr lang="en-US" sz="1800" dirty="0">
                <a:solidFill>
                  <a:srgbClr val="C9CDD4"/>
                </a:solidFill>
                <a:latin typeface="Calibri" pitchFamily="34" charset="0"/>
                <a:ea typeface="Calibri" pitchFamily="34" charset="-122"/>
                <a:cs typeface="Calibri" pitchFamily="34" charset="-120"/>
              </a:rPr>
              <a:t>Valent Nathanael, Farhan Aulianda, Anthony Gilles Rudolfo</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SpotOn · Final pitch · MAPID WebGIS Competition 2026</dc:title>
  <dc:subject>PptxGenJS Presentation</dc:subject>
  <dc:creator>Team Triple T</dc:creator>
  <cp:lastModifiedBy>Team Triple T</cp:lastModifiedBy>
  <cp:revision>1</cp:revision>
  <dcterms:created xsi:type="dcterms:W3CDTF">2026-09-19T17:09:47Z</dcterms:created>
  <dcterms:modified xsi:type="dcterms:W3CDTF">2026-09-19T17:09:47Z</dcterms:modified>
</cp:coreProperties>
</file>