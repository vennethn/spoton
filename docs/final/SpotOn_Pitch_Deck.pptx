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15 seconds. "Good morning. We are Triple T from BINUS, and this is SpotOn. Around Jakarta's stations, people still choose where to open a shop by instinct. SpotOn lets them ask the map instead." If you want the BINUS logo on this slide, place it at the top right in Canva.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Background: transit blocks are the busiest trading ground in Jakarta, and the location decision is still a guess. Three problems: busyness is not counted, competition is not mapped, available space is never checked. Target users: investors and franchise teams, but above all small businesses and first-time owners with no GIS skills. The chart is real: most cells are quiet and a few are dense, so where you open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The solution: a decision-support WebGIS. Every catchment around a station gets an Opportunity Score per business type, and Tapak, the guide, answers questions in plain language with the reasons attached. Objective: join the three signals, explain every score, and never dress up missing data. The model on the right is the real grid: height and colour are real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Four sources: the MAPID premium catalogue for competitors, the MAPID Apps missions for field evidence, OpenStreetMap for transit and opening hours, and the MAPID property catalogue for prices. Method: an H3 grid at resolution 8, 800 m walking range, a spatial join per cell, and a transparent score: busy minus rivals, gated by available space, multiplied by transit access and the cost of space. AI sits on top: the model only understands the question through function calling. Every number is computed by the engine and a grounding check throws away any reply that quotes a figure the engine did not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This is the live interface. The map is the primary element: 562 hexagons on the MAPID MAPS basemap, with zoom, click, filters, layer control and an attribute table. Tapak sits on the right: ask in plain language and the map recolours. Click a cell and the area card takes the score apart. Switch to "By place" and the premises actually on the market are ranked. Demo at the booth.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Results for one business type, coffee shops: 37 cells underserved, 508 competitive, 17 saturated. Rawa Selatan tops the ranking at 65: 273 businesses around it, only 5 coffee shops, 12 units on the market and 4 transit nodes. And the honesty rule: 462 cells are scored, 100 sit in a city no source has surveyed yet, and they are shown as such rather than filled in. Every one of these figures is computed by the engine from the data, and Tapak can only quote figures the engine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Benefits: less risk, small businesses that can compete on data, and figures that can be audited. Applications: investors, franchise teams, first-time owners, and any city with transit data. Next: more field surveys to cover the 100 unscored cells, photo classification for formality and storefront quality, rent listings. Conclusion: three signals in one catchment score, insight rather than raw points. Don't guess where to open. Ask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10 seconds and invite questions. The QR code opens the live WebGIS. The 15-minute Q&amp;A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6.png"/><Relationship Id="rId8" Type="http://schemas.openxmlformats.org/officeDocument/2006/relationships/image" Target="../media/image-4-6.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0E"/>
        </a:solidFill>
      </p:bgPr>
    </p:bg>
    <p:spTree>
      <p:nvGrpSpPr>
        <p:cNvPr id="1" name=""/>
        <p:cNvGrpSpPr/>
        <p:nvPr/>
      </p:nvGrpSpPr>
      <p:grpSpPr>
        <a:xfrm>
          <a:off x="0" y="0"/>
          <a:ext cx="0" cy="0"/>
          <a:chOff x="0" y="0"/>
          <a:chExt cx="0" cy="0"/>
        </a:xfrm>
      </p:grpSpPr>
      <p:pic>
        <p:nvPicPr>
          <p:cNvPr id="2" name="Image 0" descr="/tmp/claude-0/-home-user-SpotOn/d6f8d0e4-6af9-55ea-be62-fed6943cd5f4/scratchpad/crops/hero.png">    </p:cNvPr>
          <p:cNvPicPr>
            <a:picLocks noChangeAspect="1"/>
          </p:cNvPicPr>
          <p:nvPr/>
        </p:nvPicPr>
        <p:blipFill>
          <a:blip r:embed="rId1"/>
          <a:srcRect l="0" r="0" t="0" b="0"/>
          <a:stretch/>
        </p:blipFill>
        <p:spPr>
          <a:xfrm>
            <a:off x="5074920" y="0"/>
            <a:ext cx="7114032" cy="6858000"/>
          </a:xfrm>
          <a:prstGeom prst="rect">
            <a:avLst/>
          </a:prstGeom>
        </p:spPr>
      </p:pic>
      <p:pic>
        <p:nvPicPr>
          <p:cNvPr id="3" name="Image 1" descr="/tmp/claude-0/-home-user-SpotOn/d6f8d0e4-6af9-55ea-be62-fed6943cd5f4/scratchpad/assets/mark-white.png">    </p:cNvPr>
          <p:cNvPicPr>
            <a:picLocks noChangeAspect="1"/>
          </p:cNvPicPr>
          <p:nvPr/>
        </p:nvPicPr>
        <p:blipFill>
          <a:blip r:embed="rId2"/>
          <a:stretch>
            <a:fillRect/>
          </a:stretch>
        </p:blipFill>
        <p:spPr>
          <a:xfrm>
            <a:off x="640080" y="594360"/>
            <a:ext cx="640080" cy="640080"/>
          </a:xfrm>
          <a:prstGeom prst="rect">
            <a:avLst/>
          </a:prstGeom>
        </p:spPr>
      </p:pic>
      <p:sp>
        <p:nvSpPr>
          <p:cNvPr id="4" name="Text 0"/>
          <p:cNvSpPr txBox="1"/>
          <p:nvPr/>
        </p:nvSpPr>
        <p:spPr>
          <a:xfrm>
            <a:off x="1371600" y="594360"/>
            <a:ext cx="2743200" cy="64008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SpotOn</a:t>
            </a:r>
            <a:endParaRPr lang="en-US" sz="3000" dirty="0"/>
          </a:p>
        </p:txBody>
      </p:sp>
      <p:sp>
        <p:nvSpPr>
          <p:cNvPr id="5" name="Text 1"/>
          <p:cNvSpPr txBox="1"/>
          <p:nvPr/>
        </p:nvSpPr>
        <p:spPr>
          <a:xfrm>
            <a:off x="640080" y="1645920"/>
            <a:ext cx="4572000" cy="24688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Don't guess</a:t>
            </a:r>
            <a:endParaRPr lang="en-US" sz="4000" dirty="0"/>
          </a:p>
          <a:p>
            <a:pPr algn="l" indent="0" marL="0">
              <a:buNone/>
            </a:pPr>
            <a:r>
              <a:rPr lang="en-US" sz="4000" b="1" dirty="0">
                <a:solidFill>
                  <a:srgbClr val="FFFFFF"/>
                </a:solidFill>
                <a:latin typeface="Calibri" pitchFamily="34" charset="0"/>
                <a:ea typeface="Calibri" pitchFamily="34" charset="-122"/>
                <a:cs typeface="Calibri" pitchFamily="34" charset="-120"/>
              </a:rPr>
              <a:t>where to open.</a:t>
            </a:r>
            <a:endParaRPr lang="en-US" sz="4000" dirty="0"/>
          </a:p>
          <a:p>
            <a:pPr algn="l" indent="0" marL="0">
              <a:buNone/>
            </a:pPr>
            <a:r>
              <a:rPr lang="en-US" sz="4000" b="1" dirty="0">
                <a:solidFill>
                  <a:srgbClr val="FFFFFF"/>
                </a:solidFill>
                <a:latin typeface="Calibri" pitchFamily="34" charset="0"/>
                <a:ea typeface="Calibri" pitchFamily="34" charset="-122"/>
                <a:cs typeface="Calibri" pitchFamily="34" charset="-120"/>
              </a:rPr>
              <a:t>Ask the map.</a:t>
            </a:r>
            <a:endParaRPr lang="en-US" sz="4000" dirty="0"/>
          </a:p>
        </p:txBody>
      </p:sp>
      <p:sp>
        <p:nvSpPr>
          <p:cNvPr id="6" name="Text 2"/>
          <p:cNvSpPr txBox="1"/>
          <p:nvPr/>
        </p:nvSpPr>
        <p:spPr>
          <a:xfrm>
            <a:off x="640080" y="4160520"/>
            <a:ext cx="4114800" cy="914400"/>
          </a:xfrm>
          <a:prstGeom prst="rect">
            <a:avLst/>
          </a:prstGeom>
          <a:noFill/>
          <a:ln/>
        </p:spPr>
        <p:txBody>
          <a:bodyPr wrap="square" lIns="0" tIns="0" rIns="0" bIns="0" rtlCol="0" anchor="t"/>
          <a:lstStyle/>
          <a:p>
            <a:pPr algn="l" indent="0" marL="0">
              <a:buNone/>
            </a:pPr>
            <a:r>
              <a:rPr lang="en-US" sz="2000" dirty="0">
                <a:solidFill>
                  <a:srgbClr val="C9CDD4"/>
                </a:solidFill>
                <a:latin typeface="Calibri" pitchFamily="34" charset="0"/>
                <a:ea typeface="Calibri" pitchFamily="34" charset="-122"/>
                <a:cs typeface="Calibri" pitchFamily="34" charset="-120"/>
              </a:rPr>
              <a:t>An AI-assisted WebGIS for retail and F&amp;B site selection around the Jakarta transit network.</a:t>
            </a:r>
            <a:endParaRPr lang="en-US" sz="2000" dirty="0"/>
          </a:p>
        </p:txBody>
      </p:sp>
      <p:sp>
        <p:nvSpPr>
          <p:cNvPr id="7" name="Text 3"/>
          <p:cNvSpPr txBox="1"/>
          <p:nvPr/>
        </p:nvSpPr>
        <p:spPr>
          <a:xfrm>
            <a:off x="640080" y="5074920"/>
            <a:ext cx="4389120" cy="54864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Team Triple T, Universitas Bina Nusantara</a:t>
            </a:r>
            <a:endParaRPr lang="en-US" sz="1800" dirty="0"/>
          </a:p>
        </p:txBody>
      </p:sp>
      <p:sp>
        <p:nvSpPr>
          <p:cNvPr id="8" name="Text 4"/>
          <p:cNvSpPr txBox="1"/>
          <p:nvPr/>
        </p:nvSpPr>
        <p:spPr>
          <a:xfrm>
            <a:off x="640080" y="5623560"/>
            <a:ext cx="4389120" cy="548640"/>
          </a:xfrm>
          <a:prstGeom prst="rect">
            <a:avLst/>
          </a:prstGeom>
          <a:noFill/>
          <a:ln/>
        </p:spPr>
        <p:txBody>
          <a:bodyPr wrap="square" lIns="0" tIns="0" rIns="0" bIns="0" rtlCol="0" anchor="t"/>
          <a:lstStyle/>
          <a:p>
            <a:pPr algn="l" indent="0" marL="0">
              <a:buNone/>
            </a:pPr>
            <a:r>
              <a:rPr lang="en-US" sz="1800" dirty="0">
                <a:solidFill>
                  <a:srgbClr val="C9CDD4"/>
                </a:solidFill>
                <a:latin typeface="Calibri" pitchFamily="34" charset="0"/>
                <a:ea typeface="Calibri" pitchFamily="34" charset="-122"/>
                <a:cs typeface="Calibri" pitchFamily="34" charset="-120"/>
              </a:rPr>
              <a:t>Valent Nathanael, Farhan Aulianda, Anthony Gilles Rudolfo</a:t>
            </a:r>
            <a:endParaRPr lang="en-US" sz="1800" dirty="0"/>
          </a:p>
        </p:txBody>
      </p:sp>
      <p:sp>
        <p:nvSpPr>
          <p:cNvPr id="9" name="Text 5"/>
          <p:cNvSpPr txBox="1"/>
          <p:nvPr/>
        </p:nvSpPr>
        <p:spPr>
          <a:xfrm>
            <a:off x="640080" y="6172200"/>
            <a:ext cx="4389120" cy="548640"/>
          </a:xfrm>
          <a:prstGeom prst="rect">
            <a:avLst/>
          </a:prstGeom>
          <a:noFill/>
          <a:ln/>
        </p:spPr>
        <p:txBody>
          <a:bodyPr wrap="square" lIns="0" tIns="0" rIns="0" bIns="0" rtlCol="0" anchor="t"/>
          <a:lstStyle/>
          <a:p>
            <a:pPr algn="l" indent="0" marL="0">
              <a:buNone/>
            </a:pPr>
            <a:r>
              <a:rPr lang="en-US" sz="1800" dirty="0">
                <a:solidFill>
                  <a:srgbClr val="8FB8F0"/>
                </a:solidFill>
                <a:latin typeface="Calibri" pitchFamily="34" charset="0"/>
                <a:ea typeface="Calibri" pitchFamily="34" charset="-122"/>
                <a:cs typeface="Calibri" pitchFamily="34" charset="-120"/>
              </a:rPr>
              <a:t>MAPID WebGIS Competition 2026, Final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01 · PROBLEM &amp; BACKGROUND</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Pick the wrong spot and it is your capital that burns.</a:t>
            </a:r>
            <a:endParaRPr lang="en-US" sz="3200" dirty="0"/>
          </a:p>
        </p:txBody>
      </p:sp>
      <p:sp>
        <p:nvSpPr>
          <p:cNvPr id="6" name="Text 3"/>
          <p:cNvSpPr txBox="1"/>
          <p:nvPr/>
        </p:nvSpPr>
        <p:spPr>
          <a:xfrm>
            <a:off x="548640" y="1874520"/>
            <a:ext cx="7223760" cy="114300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Station blocks are the busiest trading ground in Jakarta. Yet most owners still pick a location on instinct or by copying a competitor, and the wrong choice burns their capital.</a:t>
            </a:r>
            <a:endParaRPr lang="en-US" sz="1800" dirty="0"/>
          </a:p>
        </p:txBody>
      </p:sp>
      <p:sp>
        <p:nvSpPr>
          <p:cNvPr id="7" name="Shape 4"/>
          <p:cNvSpPr/>
          <p:nvPr/>
        </p:nvSpPr>
        <p:spPr>
          <a:xfrm>
            <a:off x="548640" y="3017520"/>
            <a:ext cx="7223760" cy="1033272"/>
          </a:xfrm>
          <a:prstGeom prst="roundRect">
            <a:avLst>
              <a:gd name="adj" fmla="val 10619"/>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8" name="Shape 5"/>
          <p:cNvSpPr/>
          <p:nvPr/>
        </p:nvSpPr>
        <p:spPr>
          <a:xfrm>
            <a:off x="731520" y="3236976"/>
            <a:ext cx="594360" cy="594360"/>
          </a:xfrm>
          <a:prstGeom prst="hexagon">
            <a:avLst/>
          </a:prstGeom>
          <a:solidFill>
            <a:srgbClr val="E1ECFA"/>
          </a:solidFill>
          <a:ln w="12700">
            <a:solidFill>
              <a:srgbClr val="E1ECFA"/>
            </a:solidFill>
            <a:prstDash val="solid"/>
          </a:ln>
        </p:spPr>
      </p:sp>
      <p:pic>
        <p:nvPicPr>
          <p:cNvPr id="9" name="Image 1" descr="/tmp/claude-0/-home-user-SpotOn/d6f8d0e4-6af9-55ea-be62-fed6943cd5f4/scratchpad/deck/icons/FiEyeOff-blue.png">    </p:cNvPr>
          <p:cNvPicPr>
            <a:picLocks noChangeAspect="1"/>
          </p:cNvPicPr>
          <p:nvPr/>
        </p:nvPicPr>
        <p:blipFill>
          <a:blip r:embed="rId2"/>
          <a:stretch>
            <a:fillRect/>
          </a:stretch>
        </p:blipFill>
        <p:spPr>
          <a:xfrm>
            <a:off x="886054" y="3391510"/>
            <a:ext cx="285293" cy="285293"/>
          </a:xfrm>
          <a:prstGeom prst="rect">
            <a:avLst/>
          </a:prstGeom>
        </p:spPr>
      </p:pic>
      <p:sp>
        <p:nvSpPr>
          <p:cNvPr id="10" name="Text 6"/>
          <p:cNvSpPr txBox="1"/>
          <p:nvPr/>
        </p:nvSpPr>
        <p:spPr>
          <a:xfrm>
            <a:off x="1508760" y="3127248"/>
            <a:ext cx="603504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Nobody counted how busy it is</a:t>
            </a:r>
            <a:endParaRPr lang="en-US" sz="2000" dirty="0"/>
          </a:p>
        </p:txBody>
      </p:sp>
      <p:sp>
        <p:nvSpPr>
          <p:cNvPr id="11" name="Text 7"/>
          <p:cNvSpPr txBox="1"/>
          <p:nvPr/>
        </p:nvSpPr>
        <p:spPr>
          <a:xfrm>
            <a:off x="1508760" y="3474720"/>
            <a:ext cx="6035040" cy="56692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Everyone knows station blocks are busy. Nobody knows which blocks.</a:t>
            </a:r>
            <a:endParaRPr lang="en-US" sz="1800" dirty="0"/>
          </a:p>
        </p:txBody>
      </p:sp>
      <p:sp>
        <p:nvSpPr>
          <p:cNvPr id="12" name="Shape 8"/>
          <p:cNvSpPr/>
          <p:nvPr/>
        </p:nvSpPr>
        <p:spPr>
          <a:xfrm>
            <a:off x="548640" y="4160520"/>
            <a:ext cx="7223760" cy="1033272"/>
          </a:xfrm>
          <a:prstGeom prst="roundRect">
            <a:avLst>
              <a:gd name="adj" fmla="val 10619"/>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3" name="Shape 9"/>
          <p:cNvSpPr/>
          <p:nvPr/>
        </p:nvSpPr>
        <p:spPr>
          <a:xfrm>
            <a:off x="731520" y="4379976"/>
            <a:ext cx="594360" cy="594360"/>
          </a:xfrm>
          <a:prstGeom prst="hexagon">
            <a:avLst/>
          </a:prstGeom>
          <a:solidFill>
            <a:srgbClr val="E1ECFA"/>
          </a:solidFill>
          <a:ln w="12700">
            <a:solidFill>
              <a:srgbClr val="E1ECFA"/>
            </a:solidFill>
            <a:prstDash val="solid"/>
          </a:ln>
        </p:spPr>
      </p:sp>
      <p:pic>
        <p:nvPicPr>
          <p:cNvPr id="14" name="Image 2" descr="/tmp/claude-0/-home-user-SpotOn/d6f8d0e4-6af9-55ea-be62-fed6943cd5f4/scratchpad/deck/icons/FiUsers-blue.png">    </p:cNvPr>
          <p:cNvPicPr>
            <a:picLocks noChangeAspect="1"/>
          </p:cNvPicPr>
          <p:nvPr/>
        </p:nvPicPr>
        <p:blipFill>
          <a:blip r:embed="rId3"/>
          <a:stretch>
            <a:fillRect/>
          </a:stretch>
        </p:blipFill>
        <p:spPr>
          <a:xfrm>
            <a:off x="886054" y="4534510"/>
            <a:ext cx="285293" cy="285293"/>
          </a:xfrm>
          <a:prstGeom prst="rect">
            <a:avLst/>
          </a:prstGeom>
        </p:spPr>
      </p:pic>
      <p:sp>
        <p:nvSpPr>
          <p:cNvPr id="15" name="Text 10"/>
          <p:cNvSpPr txBox="1"/>
          <p:nvPr/>
        </p:nvSpPr>
        <p:spPr>
          <a:xfrm>
            <a:off x="1508760" y="4270248"/>
            <a:ext cx="603504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The competition is invisible</a:t>
            </a:r>
            <a:endParaRPr lang="en-US" sz="2000" dirty="0"/>
          </a:p>
        </p:txBody>
      </p:sp>
      <p:sp>
        <p:nvSpPr>
          <p:cNvPr id="16" name="Text 11"/>
          <p:cNvSpPr txBox="1"/>
          <p:nvPr/>
        </p:nvSpPr>
        <p:spPr>
          <a:xfrm>
            <a:off x="1508760" y="4617720"/>
            <a:ext cx="6035040" cy="56692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A street already full of coffee shops is a way to lose money.</a:t>
            </a:r>
            <a:endParaRPr lang="en-US" sz="1800" dirty="0"/>
          </a:p>
        </p:txBody>
      </p:sp>
      <p:sp>
        <p:nvSpPr>
          <p:cNvPr id="17" name="Shape 12"/>
          <p:cNvSpPr/>
          <p:nvPr/>
        </p:nvSpPr>
        <p:spPr>
          <a:xfrm>
            <a:off x="548640" y="5303520"/>
            <a:ext cx="7223760" cy="1033272"/>
          </a:xfrm>
          <a:prstGeom prst="roundRect">
            <a:avLst>
              <a:gd name="adj" fmla="val 10619"/>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8" name="Shape 13"/>
          <p:cNvSpPr/>
          <p:nvPr/>
        </p:nvSpPr>
        <p:spPr>
          <a:xfrm>
            <a:off x="731520" y="5522976"/>
            <a:ext cx="594360" cy="594360"/>
          </a:xfrm>
          <a:prstGeom prst="hexagon">
            <a:avLst/>
          </a:prstGeom>
          <a:solidFill>
            <a:srgbClr val="E1ECFA"/>
          </a:solidFill>
          <a:ln w="12700">
            <a:solidFill>
              <a:srgbClr val="E1ECFA"/>
            </a:solidFill>
            <a:prstDash val="solid"/>
          </a:ln>
        </p:spPr>
      </p:sp>
      <p:pic>
        <p:nvPicPr>
          <p:cNvPr id="19" name="Image 3" descr="/tmp/claude-0/-home-user-SpotOn/d6f8d0e4-6af9-55ea-be62-fed6943cd5f4/scratchpad/deck/icons/FiHome-blue.png">    </p:cNvPr>
          <p:cNvPicPr>
            <a:picLocks noChangeAspect="1"/>
          </p:cNvPicPr>
          <p:nvPr/>
        </p:nvPicPr>
        <p:blipFill>
          <a:blip r:embed="rId4"/>
          <a:stretch>
            <a:fillRect/>
          </a:stretch>
        </p:blipFill>
        <p:spPr>
          <a:xfrm>
            <a:off x="886054" y="5677510"/>
            <a:ext cx="285293" cy="285293"/>
          </a:xfrm>
          <a:prstGeom prst="rect">
            <a:avLst/>
          </a:prstGeom>
        </p:spPr>
      </p:pic>
      <p:sp>
        <p:nvSpPr>
          <p:cNvPr id="20" name="Text 14"/>
          <p:cNvSpPr txBox="1"/>
          <p:nvPr/>
        </p:nvSpPr>
        <p:spPr>
          <a:xfrm>
            <a:off x="1508760" y="5413248"/>
            <a:ext cx="603504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The space is never counted</a:t>
            </a:r>
            <a:endParaRPr lang="en-US" sz="2000" dirty="0"/>
          </a:p>
        </p:txBody>
      </p:sp>
      <p:sp>
        <p:nvSpPr>
          <p:cNvPr id="21" name="Text 15"/>
          <p:cNvSpPr txBox="1"/>
          <p:nvPr/>
        </p:nvSpPr>
        <p:spPr>
          <a:xfrm>
            <a:off x="1508760" y="5760720"/>
            <a:ext cx="6035040" cy="56692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A good area with nothing to rent is not an opportunity.</a:t>
            </a:r>
            <a:endParaRPr lang="en-US" sz="1800" dirty="0"/>
          </a:p>
        </p:txBody>
      </p:sp>
      <p:sp>
        <p:nvSpPr>
          <p:cNvPr id="22" name="Shape 16"/>
          <p:cNvSpPr/>
          <p:nvPr/>
        </p:nvSpPr>
        <p:spPr>
          <a:xfrm>
            <a:off x="8046720" y="1874520"/>
            <a:ext cx="3593592" cy="4553712"/>
          </a:xfrm>
          <a:prstGeom prst="roundRect">
            <a:avLst>
              <a:gd name="adj" fmla="val 3053"/>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23" name="Shape 17"/>
          <p:cNvSpPr/>
          <p:nvPr/>
        </p:nvSpPr>
        <p:spPr>
          <a:xfrm>
            <a:off x="8229600" y="2057400"/>
            <a:ext cx="548640" cy="548640"/>
          </a:xfrm>
          <a:prstGeom prst="hexagon">
            <a:avLst/>
          </a:prstGeom>
          <a:solidFill>
            <a:srgbClr val="E1ECFA"/>
          </a:solidFill>
          <a:ln w="12700">
            <a:solidFill>
              <a:srgbClr val="E1ECFA"/>
            </a:solidFill>
            <a:prstDash val="solid"/>
          </a:ln>
        </p:spPr>
      </p:sp>
      <p:pic>
        <p:nvPicPr>
          <p:cNvPr id="24" name="Image 4" descr="/tmp/claude-0/-home-user-SpotOn/d6f8d0e4-6af9-55ea-be62-fed6943cd5f4/scratchpad/deck/icons/FiTarget-blue.png">    </p:cNvPr>
          <p:cNvPicPr>
            <a:picLocks noChangeAspect="1"/>
          </p:cNvPicPr>
          <p:nvPr/>
        </p:nvPicPr>
        <p:blipFill>
          <a:blip r:embed="rId5"/>
          <a:stretch>
            <a:fillRect/>
          </a:stretch>
        </p:blipFill>
        <p:spPr>
          <a:xfrm>
            <a:off x="8372246" y="2200046"/>
            <a:ext cx="263347" cy="263347"/>
          </a:xfrm>
          <a:prstGeom prst="rect">
            <a:avLst/>
          </a:prstGeom>
        </p:spPr>
      </p:pic>
      <p:sp>
        <p:nvSpPr>
          <p:cNvPr id="25" name="Text 18"/>
          <p:cNvSpPr txBox="1"/>
          <p:nvPr/>
        </p:nvSpPr>
        <p:spPr>
          <a:xfrm>
            <a:off x="8915400" y="2103120"/>
            <a:ext cx="2651760" cy="457200"/>
          </a:xfrm>
          <a:prstGeom prst="rect">
            <a:avLst/>
          </a:prstGeom>
          <a:noFill/>
          <a:ln/>
        </p:spPr>
        <p:txBody>
          <a:bodyPr wrap="square" lIns="0" tIns="0" rIns="0" bIns="0" rtlCol="0" anchor="ctr"/>
          <a:lstStyle/>
          <a:p>
            <a:pPr algn="l" indent="0" marL="0">
              <a:buNone/>
            </a:pPr>
            <a:r>
              <a:rPr lang="en-US" sz="2000" b="1" dirty="0">
                <a:solidFill>
                  <a:srgbClr val="0B0C0E"/>
                </a:solidFill>
                <a:latin typeface="Calibri" pitchFamily="34" charset="0"/>
                <a:ea typeface="Calibri" pitchFamily="34" charset="-122"/>
                <a:cs typeface="Calibri" pitchFamily="34" charset="-120"/>
              </a:rPr>
              <a:t>Target users</a:t>
            </a:r>
            <a:endParaRPr lang="en-US" sz="2000" dirty="0"/>
          </a:p>
        </p:txBody>
      </p:sp>
      <p:sp>
        <p:nvSpPr>
          <p:cNvPr id="26" name="Text 19"/>
          <p:cNvSpPr txBox="1"/>
          <p:nvPr/>
        </p:nvSpPr>
        <p:spPr>
          <a:xfrm>
            <a:off x="8229600" y="2743200"/>
            <a:ext cx="3246120" cy="21945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Retail and F&amp;B investors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Small businesses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First-time owners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Franchise teams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Property agents</a:t>
            </a:r>
            <a:endParaRPr lang="en-US" sz="1800" dirty="0"/>
          </a:p>
        </p:txBody>
      </p:sp>
      <p:pic>
        <p:nvPicPr>
          <p:cNvPr id="27" name="Image 5" descr="/tmp/claude-0/-home-user-SpotOn/d6f8d0e4-6af9-55ea-be62-fed6943cd5f4/scratchpad/crops/chart-spread-r.png">    </p:cNvPr>
          <p:cNvPicPr>
            <a:picLocks noChangeAspect="1"/>
          </p:cNvPicPr>
          <p:nvPr/>
        </p:nvPicPr>
        <p:blipFill>
          <a:blip r:embed="rId6"/>
          <a:stretch>
            <a:fillRect/>
          </a:stretch>
        </p:blipFill>
        <p:spPr>
          <a:xfrm>
            <a:off x="8229600" y="4937760"/>
            <a:ext cx="3227832" cy="13533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02 · SOLUTION &amp; CONCEPT</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Ask the map where to open, and why.</a:t>
            </a:r>
            <a:endParaRPr lang="en-US" sz="3200" dirty="0"/>
          </a:p>
        </p:txBody>
      </p:sp>
      <p:sp>
        <p:nvSpPr>
          <p:cNvPr id="6" name="Text 3"/>
          <p:cNvSpPr txBox="1"/>
          <p:nvPr/>
        </p:nvSpPr>
        <p:spPr>
          <a:xfrm>
            <a:off x="548640" y="1828800"/>
            <a:ext cx="5760720" cy="320040"/>
          </a:xfrm>
          <a:prstGeom prst="rect">
            <a:avLst/>
          </a:prstGeom>
          <a:noFill/>
          <a:ln/>
        </p:spPr>
        <p:txBody>
          <a:bodyPr wrap="square" lIns="0" tIns="0" rIns="0" bIns="0" rtlCol="0" anchor="t"/>
          <a:lstStyle/>
          <a:p>
            <a:pPr algn="l" indent="0" marL="0">
              <a:buNone/>
            </a:pPr>
            <a:r>
              <a:rPr lang="en-US" sz="1800" b="1" spc="100" kern="0" dirty="0">
                <a:solidFill>
                  <a:srgbClr val="0071E3"/>
                </a:solidFill>
                <a:latin typeface="Calibri" pitchFamily="34" charset="0"/>
                <a:ea typeface="Calibri" pitchFamily="34" charset="-122"/>
                <a:cs typeface="Calibri" pitchFamily="34" charset="-120"/>
              </a:rPr>
              <a:t>Solution</a:t>
            </a:r>
            <a:endParaRPr lang="en-US" sz="1800" dirty="0"/>
          </a:p>
        </p:txBody>
      </p:sp>
      <p:sp>
        <p:nvSpPr>
          <p:cNvPr id="7" name="Text 4"/>
          <p:cNvSpPr txBox="1"/>
          <p:nvPr/>
        </p:nvSpPr>
        <p:spPr>
          <a:xfrm>
            <a:off x="548640" y="2176272"/>
            <a:ext cx="5760720" cy="141732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SpotOn scores every walkable catchment around Jakarta transit for 13 business types, ranks them, and lets you ask Tapak, the AI guide, in plain Indonesian or English. Tapak answers with the reasons attached.</a:t>
            </a:r>
            <a:endParaRPr lang="en-US" sz="1800" dirty="0"/>
          </a:p>
        </p:txBody>
      </p:sp>
      <p:sp>
        <p:nvSpPr>
          <p:cNvPr id="8" name="Text 5"/>
          <p:cNvSpPr txBox="1"/>
          <p:nvPr/>
        </p:nvSpPr>
        <p:spPr>
          <a:xfrm>
            <a:off x="548640" y="3703320"/>
            <a:ext cx="5760720" cy="320040"/>
          </a:xfrm>
          <a:prstGeom prst="rect">
            <a:avLst/>
          </a:prstGeom>
          <a:noFill/>
          <a:ln/>
        </p:spPr>
        <p:txBody>
          <a:bodyPr wrap="square" lIns="0" tIns="0" rIns="0" bIns="0" rtlCol="0" anchor="t"/>
          <a:lstStyle/>
          <a:p>
            <a:pPr algn="l" indent="0" marL="0">
              <a:buNone/>
            </a:pPr>
            <a:r>
              <a:rPr lang="en-US" sz="1800" b="1" spc="100" kern="0" dirty="0">
                <a:solidFill>
                  <a:srgbClr val="0071E3"/>
                </a:solidFill>
                <a:latin typeface="Calibri" pitchFamily="34" charset="0"/>
                <a:ea typeface="Calibri" pitchFamily="34" charset="-122"/>
                <a:cs typeface="Calibri" pitchFamily="34" charset="-120"/>
              </a:rPr>
              <a:t>Objective</a:t>
            </a:r>
            <a:endParaRPr lang="en-US" sz="1800" dirty="0"/>
          </a:p>
        </p:txBody>
      </p:sp>
      <p:sp>
        <p:nvSpPr>
          <p:cNvPr id="9" name="Text 6"/>
          <p:cNvSpPr txBox="1"/>
          <p:nvPr/>
        </p:nvSpPr>
        <p:spPr>
          <a:xfrm>
            <a:off x="548640" y="4050792"/>
            <a:ext cx="5760720" cy="21945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Bring demand, competition and available space into one score per cell</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Explain every score step by step, with the N behind it</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Say "not surveyed" instead of guessing where data is missing</a:t>
            </a:r>
            <a:endParaRPr lang="en-US" sz="1800" dirty="0"/>
          </a:p>
        </p:txBody>
      </p:sp>
      <p:pic>
        <p:nvPicPr>
          <p:cNvPr id="10" name="Image 1" descr="/tmp/claude-0/-home-user-SpotOn/d6f8d0e4-6af9-55ea-be62-fed6943cd5f4/scratchpad/crops/grid-model-r.png">    </p:cNvPr>
          <p:cNvPicPr>
            <a:picLocks noChangeAspect="1"/>
          </p:cNvPicPr>
          <p:nvPr/>
        </p:nvPicPr>
        <p:blipFill>
          <a:blip r:embed="rId2"/>
          <a:stretch>
            <a:fillRect/>
          </a:stretch>
        </p:blipFill>
        <p:spPr>
          <a:xfrm>
            <a:off x="6675120" y="1783080"/>
            <a:ext cx="4965192" cy="2148840"/>
          </a:xfrm>
          <a:prstGeom prst="rect">
            <a:avLst/>
          </a:prstGeom>
        </p:spPr>
      </p:pic>
      <p:sp>
        <p:nvSpPr>
          <p:cNvPr id="11" name="Text 7"/>
          <p:cNvSpPr txBox="1"/>
          <p:nvPr/>
        </p:nvSpPr>
        <p:spPr>
          <a:xfrm>
            <a:off x="6675120" y="4114800"/>
            <a:ext cx="4937760" cy="320040"/>
          </a:xfrm>
          <a:prstGeom prst="rect">
            <a:avLst/>
          </a:prstGeom>
          <a:noFill/>
          <a:ln/>
        </p:spPr>
        <p:txBody>
          <a:bodyPr wrap="square" lIns="0" tIns="0" rIns="0" bIns="0" rtlCol="0" anchor="t"/>
          <a:lstStyle/>
          <a:p>
            <a:pPr algn="l" indent="0" marL="0">
              <a:buNone/>
            </a:pPr>
            <a:r>
              <a:rPr lang="en-US" sz="1800" b="1" spc="100" kern="0" dirty="0">
                <a:solidFill>
                  <a:srgbClr val="0071E3"/>
                </a:solidFill>
                <a:latin typeface="Calibri" pitchFamily="34" charset="0"/>
                <a:ea typeface="Calibri" pitchFamily="34" charset="-122"/>
                <a:cs typeface="Calibri" pitchFamily="34" charset="-120"/>
              </a:rPr>
              <a:t>Value proposition</a:t>
            </a:r>
            <a:endParaRPr lang="en-US" sz="1800" dirty="0"/>
          </a:p>
        </p:txBody>
      </p:sp>
      <p:sp>
        <p:nvSpPr>
          <p:cNvPr id="12" name="Shape 8"/>
          <p:cNvSpPr/>
          <p:nvPr/>
        </p:nvSpPr>
        <p:spPr>
          <a:xfrm>
            <a:off x="6675120" y="4526280"/>
            <a:ext cx="475488" cy="475488"/>
          </a:xfrm>
          <a:prstGeom prst="hexagon">
            <a:avLst/>
          </a:prstGeom>
          <a:solidFill>
            <a:srgbClr val="E1ECFA"/>
          </a:solidFill>
          <a:ln w="12700">
            <a:solidFill>
              <a:srgbClr val="E1ECFA"/>
            </a:solidFill>
            <a:prstDash val="solid"/>
          </a:ln>
        </p:spPr>
      </p:sp>
      <p:pic>
        <p:nvPicPr>
          <p:cNvPr id="13" name="Image 2" descr="/tmp/claude-0/-home-user-SpotOn/d6f8d0e4-6af9-55ea-be62-fed6943cd5f4/scratchpad/deck/icons/FiLayers-blue.png">    </p:cNvPr>
          <p:cNvPicPr>
            <a:picLocks noChangeAspect="1"/>
          </p:cNvPicPr>
          <p:nvPr/>
        </p:nvPicPr>
        <p:blipFill>
          <a:blip r:embed="rId3"/>
          <a:stretch>
            <a:fillRect/>
          </a:stretch>
        </p:blipFill>
        <p:spPr>
          <a:xfrm>
            <a:off x="6798747" y="4649907"/>
            <a:ext cx="228234" cy="228234"/>
          </a:xfrm>
          <a:prstGeom prst="rect">
            <a:avLst/>
          </a:prstGeom>
        </p:spPr>
      </p:pic>
      <p:sp>
        <p:nvSpPr>
          <p:cNvPr id="14" name="Text 9"/>
          <p:cNvSpPr txBox="1"/>
          <p:nvPr/>
        </p:nvSpPr>
        <p:spPr>
          <a:xfrm>
            <a:off x="7269480" y="4489704"/>
            <a:ext cx="4389120" cy="548640"/>
          </a:xfrm>
          <a:prstGeom prst="rect">
            <a:avLst/>
          </a:prstGeom>
          <a:noFill/>
          <a:ln/>
        </p:spPr>
        <p:txBody>
          <a:bodyPr wrap="square" lIns="0" tIns="0" rIns="0" bIns="0" rtlCol="0" anchor="ctr"/>
          <a:lstStyle/>
          <a:p>
            <a:pPr algn="l" indent="0" marL="0">
              <a:buNone/>
            </a:pPr>
            <a:r>
              <a:rPr lang="en-US" sz="1800" dirty="0">
                <a:solidFill>
                  <a:srgbClr val="0B0C0E"/>
                </a:solidFill>
                <a:latin typeface="Calibri" pitchFamily="34" charset="0"/>
                <a:ea typeface="Calibri" pitchFamily="34" charset="-122"/>
                <a:cs typeface="Calibri" pitchFamily="34" charset="-120"/>
              </a:rPr>
              <a:t>Three signals, one score per cell</a:t>
            </a:r>
            <a:endParaRPr lang="en-US" sz="1800" dirty="0"/>
          </a:p>
        </p:txBody>
      </p:sp>
      <p:sp>
        <p:nvSpPr>
          <p:cNvPr id="15" name="Shape 10"/>
          <p:cNvSpPr/>
          <p:nvPr/>
        </p:nvSpPr>
        <p:spPr>
          <a:xfrm>
            <a:off x="6675120" y="5148072"/>
            <a:ext cx="475488" cy="475488"/>
          </a:xfrm>
          <a:prstGeom prst="hexagon">
            <a:avLst/>
          </a:prstGeom>
          <a:solidFill>
            <a:srgbClr val="E1ECFA"/>
          </a:solidFill>
          <a:ln w="12700">
            <a:solidFill>
              <a:srgbClr val="E1ECFA"/>
            </a:solidFill>
            <a:prstDash val="solid"/>
          </a:ln>
        </p:spPr>
      </p:sp>
      <p:pic>
        <p:nvPicPr>
          <p:cNvPr id="16" name="Image 3" descr="/tmp/claude-0/-home-user-SpotOn/d6f8d0e4-6af9-55ea-be62-fed6943cd5f4/scratchpad/deck/icons/FiMessageCircle-blue.png">    </p:cNvPr>
          <p:cNvPicPr>
            <a:picLocks noChangeAspect="1"/>
          </p:cNvPicPr>
          <p:nvPr/>
        </p:nvPicPr>
        <p:blipFill>
          <a:blip r:embed="rId4"/>
          <a:stretch>
            <a:fillRect/>
          </a:stretch>
        </p:blipFill>
        <p:spPr>
          <a:xfrm>
            <a:off x="6798747" y="5271699"/>
            <a:ext cx="228234" cy="228234"/>
          </a:xfrm>
          <a:prstGeom prst="rect">
            <a:avLst/>
          </a:prstGeom>
        </p:spPr>
      </p:pic>
      <p:sp>
        <p:nvSpPr>
          <p:cNvPr id="17" name="Text 11"/>
          <p:cNvSpPr txBox="1"/>
          <p:nvPr/>
        </p:nvSpPr>
        <p:spPr>
          <a:xfrm>
            <a:off x="7269480" y="5111496"/>
            <a:ext cx="4389120" cy="548640"/>
          </a:xfrm>
          <a:prstGeom prst="rect">
            <a:avLst/>
          </a:prstGeom>
          <a:noFill/>
          <a:ln/>
        </p:spPr>
        <p:txBody>
          <a:bodyPr wrap="square" lIns="0" tIns="0" rIns="0" bIns="0" rtlCol="0" anchor="ctr"/>
          <a:lstStyle/>
          <a:p>
            <a:pPr algn="l" indent="0" marL="0">
              <a:buNone/>
            </a:pPr>
            <a:r>
              <a:rPr lang="en-US" sz="1800" dirty="0">
                <a:solidFill>
                  <a:srgbClr val="0B0C0E"/>
                </a:solidFill>
                <a:latin typeface="Calibri" pitchFamily="34" charset="0"/>
                <a:ea typeface="Calibri" pitchFamily="34" charset="-122"/>
                <a:cs typeface="Calibri" pitchFamily="34" charset="-120"/>
              </a:rPr>
              <a:t>Plain answers, computed figures</a:t>
            </a:r>
            <a:endParaRPr lang="en-US" sz="1800" dirty="0"/>
          </a:p>
        </p:txBody>
      </p:sp>
      <p:sp>
        <p:nvSpPr>
          <p:cNvPr id="18" name="Shape 12"/>
          <p:cNvSpPr/>
          <p:nvPr/>
        </p:nvSpPr>
        <p:spPr>
          <a:xfrm>
            <a:off x="6675120" y="5769864"/>
            <a:ext cx="475488" cy="475488"/>
          </a:xfrm>
          <a:prstGeom prst="hexagon">
            <a:avLst/>
          </a:prstGeom>
          <a:solidFill>
            <a:srgbClr val="E1ECFA"/>
          </a:solidFill>
          <a:ln w="12700">
            <a:solidFill>
              <a:srgbClr val="E1ECFA"/>
            </a:solidFill>
            <a:prstDash val="solid"/>
          </a:ln>
        </p:spPr>
      </p:sp>
      <p:pic>
        <p:nvPicPr>
          <p:cNvPr id="19" name="Image 4" descr="/tmp/claude-0/-home-user-SpotOn/d6f8d0e4-6af9-55ea-be62-fed6943cd5f4/scratchpad/deck/icons/FiShield-blue.png">    </p:cNvPr>
          <p:cNvPicPr>
            <a:picLocks noChangeAspect="1"/>
          </p:cNvPicPr>
          <p:nvPr/>
        </p:nvPicPr>
        <p:blipFill>
          <a:blip r:embed="rId5"/>
          <a:stretch>
            <a:fillRect/>
          </a:stretch>
        </p:blipFill>
        <p:spPr>
          <a:xfrm>
            <a:off x="6798747" y="5893491"/>
            <a:ext cx="228234" cy="228234"/>
          </a:xfrm>
          <a:prstGeom prst="rect">
            <a:avLst/>
          </a:prstGeom>
        </p:spPr>
      </p:pic>
      <p:sp>
        <p:nvSpPr>
          <p:cNvPr id="20" name="Text 13"/>
          <p:cNvSpPr txBox="1"/>
          <p:nvPr/>
        </p:nvSpPr>
        <p:spPr>
          <a:xfrm>
            <a:off x="7269480" y="5733288"/>
            <a:ext cx="4389120" cy="548640"/>
          </a:xfrm>
          <a:prstGeom prst="rect">
            <a:avLst/>
          </a:prstGeom>
          <a:noFill/>
          <a:ln/>
        </p:spPr>
        <p:txBody>
          <a:bodyPr wrap="square" lIns="0" tIns="0" rIns="0" bIns="0" rtlCol="0" anchor="ctr"/>
          <a:lstStyle/>
          <a:p>
            <a:pPr algn="l" indent="0" marL="0">
              <a:buNone/>
            </a:pPr>
            <a:r>
              <a:rPr lang="en-US" sz="1800" dirty="0">
                <a:solidFill>
                  <a:srgbClr val="0B0C0E"/>
                </a:solidFill>
                <a:latin typeface="Calibri" pitchFamily="34" charset="0"/>
                <a:ea typeface="Calibri" pitchFamily="34" charset="-122"/>
                <a:cs typeface="Calibri" pitchFamily="34" charset="-120"/>
              </a:rPr>
              <a:t>Not surveyed is said, never guessed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03 · DATA &amp; METHODOLOGY</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From field data to one score per cell.</a:t>
            </a:r>
            <a:endParaRPr lang="en-US" sz="3200" dirty="0"/>
          </a:p>
        </p:txBody>
      </p:sp>
      <p:sp>
        <p:nvSpPr>
          <p:cNvPr id="6" name="Shape 3"/>
          <p:cNvSpPr/>
          <p:nvPr/>
        </p:nvSpPr>
        <p:spPr>
          <a:xfrm>
            <a:off x="548640" y="1828800"/>
            <a:ext cx="2679192" cy="1965960"/>
          </a:xfrm>
          <a:prstGeom prst="roundRect">
            <a:avLst>
              <a:gd name="adj" fmla="val 5581"/>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7" name="Shape 4"/>
          <p:cNvSpPr/>
          <p:nvPr/>
        </p:nvSpPr>
        <p:spPr>
          <a:xfrm>
            <a:off x="713232" y="1993392"/>
            <a:ext cx="502920" cy="502920"/>
          </a:xfrm>
          <a:prstGeom prst="hexagon">
            <a:avLst/>
          </a:prstGeom>
          <a:solidFill>
            <a:srgbClr val="E1ECFA"/>
          </a:solidFill>
          <a:ln w="12700">
            <a:solidFill>
              <a:srgbClr val="E1ECFA"/>
            </a:solidFill>
            <a:prstDash val="solid"/>
          </a:ln>
        </p:spPr>
      </p:sp>
      <p:pic>
        <p:nvPicPr>
          <p:cNvPr id="8" name="Image 1" descr="/tmp/claude-0/-home-user-SpotOn/d6f8d0e4-6af9-55ea-be62-fed6943cd5f4/scratchpad/deck/icons/FiDatabase-blue.png">    </p:cNvPr>
          <p:cNvPicPr>
            <a:picLocks noChangeAspect="1"/>
          </p:cNvPicPr>
          <p:nvPr/>
        </p:nvPicPr>
        <p:blipFill>
          <a:blip r:embed="rId2"/>
          <a:stretch>
            <a:fillRect/>
          </a:stretch>
        </p:blipFill>
        <p:spPr>
          <a:xfrm>
            <a:off x="843991" y="2124151"/>
            <a:ext cx="241402" cy="241402"/>
          </a:xfrm>
          <a:prstGeom prst="rect">
            <a:avLst/>
          </a:prstGeom>
        </p:spPr>
      </p:pic>
      <p:sp>
        <p:nvSpPr>
          <p:cNvPr id="9" name="Text 5"/>
          <p:cNvSpPr txBox="1"/>
          <p:nvPr/>
        </p:nvSpPr>
        <p:spPr>
          <a:xfrm>
            <a:off x="1325880" y="193852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MAPID Premium</a:t>
            </a:r>
            <a:endParaRPr lang="en-US" sz="1800" dirty="0"/>
          </a:p>
        </p:txBody>
      </p:sp>
      <p:sp>
        <p:nvSpPr>
          <p:cNvPr id="10" name="Text 6"/>
          <p:cNvSpPr txBox="1"/>
          <p:nvPr/>
        </p:nvSpPr>
        <p:spPr>
          <a:xfrm>
            <a:off x="713232" y="2651760"/>
            <a:ext cx="2350008" cy="109728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24,630 competitor points, 13 business types, five cities</a:t>
            </a:r>
            <a:endParaRPr lang="en-US" sz="1800" dirty="0"/>
          </a:p>
        </p:txBody>
      </p:sp>
      <p:sp>
        <p:nvSpPr>
          <p:cNvPr id="11" name="Shape 7"/>
          <p:cNvSpPr/>
          <p:nvPr/>
        </p:nvSpPr>
        <p:spPr>
          <a:xfrm>
            <a:off x="3364992" y="1828800"/>
            <a:ext cx="2679192" cy="1965960"/>
          </a:xfrm>
          <a:prstGeom prst="roundRect">
            <a:avLst>
              <a:gd name="adj" fmla="val 5581"/>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2" name="Shape 8"/>
          <p:cNvSpPr/>
          <p:nvPr/>
        </p:nvSpPr>
        <p:spPr>
          <a:xfrm>
            <a:off x="3529584" y="1993392"/>
            <a:ext cx="502920" cy="502920"/>
          </a:xfrm>
          <a:prstGeom prst="hexagon">
            <a:avLst/>
          </a:prstGeom>
          <a:solidFill>
            <a:srgbClr val="E1ECFA"/>
          </a:solidFill>
          <a:ln w="12700">
            <a:solidFill>
              <a:srgbClr val="E1ECFA"/>
            </a:solidFill>
            <a:prstDash val="solid"/>
          </a:ln>
        </p:spPr>
      </p:sp>
      <p:pic>
        <p:nvPicPr>
          <p:cNvPr id="13" name="Image 2" descr="/tmp/claude-0/-home-user-SpotOn/d6f8d0e4-6af9-55ea-be62-fed6943cd5f4/scratchpad/deck/icons/FiClipboard-blue.png">    </p:cNvPr>
          <p:cNvPicPr>
            <a:picLocks noChangeAspect="1"/>
          </p:cNvPicPr>
          <p:nvPr/>
        </p:nvPicPr>
        <p:blipFill>
          <a:blip r:embed="rId3"/>
          <a:stretch>
            <a:fillRect/>
          </a:stretch>
        </p:blipFill>
        <p:spPr>
          <a:xfrm>
            <a:off x="3660343" y="2124151"/>
            <a:ext cx="241402" cy="241402"/>
          </a:xfrm>
          <a:prstGeom prst="rect">
            <a:avLst/>
          </a:prstGeom>
        </p:spPr>
      </p:pic>
      <p:sp>
        <p:nvSpPr>
          <p:cNvPr id="14" name="Text 9"/>
          <p:cNvSpPr txBox="1"/>
          <p:nvPr/>
        </p:nvSpPr>
        <p:spPr>
          <a:xfrm>
            <a:off x="4142232" y="193852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MAPID Apps</a:t>
            </a:r>
            <a:endParaRPr lang="en-US" sz="1800" dirty="0"/>
          </a:p>
        </p:txBody>
      </p:sp>
      <p:sp>
        <p:nvSpPr>
          <p:cNvPr id="15" name="Text 10"/>
          <p:cNvSpPr txBox="1"/>
          <p:nvPr/>
        </p:nvSpPr>
        <p:spPr>
          <a:xfrm>
            <a:off x="3529584" y="2651760"/>
            <a:ext cx="2350008" cy="109728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1,027 field records: Struk Go, Menu Go, Properti Go, notes</a:t>
            </a:r>
            <a:endParaRPr lang="en-US" sz="1800" dirty="0"/>
          </a:p>
        </p:txBody>
      </p:sp>
      <p:sp>
        <p:nvSpPr>
          <p:cNvPr id="16" name="Shape 11"/>
          <p:cNvSpPr/>
          <p:nvPr/>
        </p:nvSpPr>
        <p:spPr>
          <a:xfrm>
            <a:off x="6181344" y="1828800"/>
            <a:ext cx="2679192" cy="1965960"/>
          </a:xfrm>
          <a:prstGeom prst="roundRect">
            <a:avLst>
              <a:gd name="adj" fmla="val 5581"/>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7" name="Shape 12"/>
          <p:cNvSpPr/>
          <p:nvPr/>
        </p:nvSpPr>
        <p:spPr>
          <a:xfrm>
            <a:off x="6345936" y="1993392"/>
            <a:ext cx="502920" cy="502920"/>
          </a:xfrm>
          <a:prstGeom prst="hexagon">
            <a:avLst/>
          </a:prstGeom>
          <a:solidFill>
            <a:srgbClr val="E1ECFA"/>
          </a:solidFill>
          <a:ln w="12700">
            <a:solidFill>
              <a:srgbClr val="E1ECFA"/>
            </a:solidFill>
            <a:prstDash val="solid"/>
          </a:ln>
        </p:spPr>
      </p:sp>
      <p:pic>
        <p:nvPicPr>
          <p:cNvPr id="18" name="Image 3" descr="/tmp/claude-0/-home-user-SpotOn/d6f8d0e4-6af9-55ea-be62-fed6943cd5f4/scratchpad/deck/icons/FiMap-blue.png">    </p:cNvPr>
          <p:cNvPicPr>
            <a:picLocks noChangeAspect="1"/>
          </p:cNvPicPr>
          <p:nvPr/>
        </p:nvPicPr>
        <p:blipFill>
          <a:blip r:embed="rId4"/>
          <a:stretch>
            <a:fillRect/>
          </a:stretch>
        </p:blipFill>
        <p:spPr>
          <a:xfrm>
            <a:off x="6476695" y="2124151"/>
            <a:ext cx="241402" cy="241402"/>
          </a:xfrm>
          <a:prstGeom prst="rect">
            <a:avLst/>
          </a:prstGeom>
        </p:spPr>
      </p:pic>
      <p:sp>
        <p:nvSpPr>
          <p:cNvPr id="19" name="Text 13"/>
          <p:cNvSpPr txBox="1"/>
          <p:nvPr/>
        </p:nvSpPr>
        <p:spPr>
          <a:xfrm>
            <a:off x="6958584" y="193852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OpenStreetMap</a:t>
            </a:r>
            <a:endParaRPr lang="en-US" sz="1800" dirty="0"/>
          </a:p>
        </p:txBody>
      </p:sp>
      <p:sp>
        <p:nvSpPr>
          <p:cNvPr id="20" name="Text 14"/>
          <p:cNvSpPr txBox="1"/>
          <p:nvPr/>
        </p:nvSpPr>
        <p:spPr>
          <a:xfrm>
            <a:off x="6345936" y="2651760"/>
            <a:ext cx="2350008" cy="109728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1,105 transit stops, 5,711 POIs, opening hours</a:t>
            </a:r>
            <a:endParaRPr lang="en-US" sz="1800" dirty="0"/>
          </a:p>
        </p:txBody>
      </p:sp>
      <p:sp>
        <p:nvSpPr>
          <p:cNvPr id="21" name="Shape 15"/>
          <p:cNvSpPr/>
          <p:nvPr/>
        </p:nvSpPr>
        <p:spPr>
          <a:xfrm>
            <a:off x="8997696" y="1828800"/>
            <a:ext cx="2679192" cy="1965960"/>
          </a:xfrm>
          <a:prstGeom prst="roundRect">
            <a:avLst>
              <a:gd name="adj" fmla="val 5581"/>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22" name="Shape 16"/>
          <p:cNvSpPr/>
          <p:nvPr/>
        </p:nvSpPr>
        <p:spPr>
          <a:xfrm>
            <a:off x="9162288" y="1993392"/>
            <a:ext cx="502920" cy="502920"/>
          </a:xfrm>
          <a:prstGeom prst="hexagon">
            <a:avLst/>
          </a:prstGeom>
          <a:solidFill>
            <a:srgbClr val="E1ECFA"/>
          </a:solidFill>
          <a:ln w="12700">
            <a:solidFill>
              <a:srgbClr val="E1ECFA"/>
            </a:solidFill>
            <a:prstDash val="solid"/>
          </a:ln>
        </p:spPr>
      </p:sp>
      <p:pic>
        <p:nvPicPr>
          <p:cNvPr id="23" name="Image 4" descr="/tmp/claude-0/-home-user-SpotOn/d6f8d0e4-6af9-55ea-be62-fed6943cd5f4/scratchpad/deck/icons/FiTag-blue.png">    </p:cNvPr>
          <p:cNvPicPr>
            <a:picLocks noChangeAspect="1"/>
          </p:cNvPicPr>
          <p:nvPr/>
        </p:nvPicPr>
        <p:blipFill>
          <a:blip r:embed="rId5"/>
          <a:stretch>
            <a:fillRect/>
          </a:stretch>
        </p:blipFill>
        <p:spPr>
          <a:xfrm>
            <a:off x="9293047" y="2124151"/>
            <a:ext cx="241402" cy="241402"/>
          </a:xfrm>
          <a:prstGeom prst="rect">
            <a:avLst/>
          </a:prstGeom>
        </p:spPr>
      </p:pic>
      <p:sp>
        <p:nvSpPr>
          <p:cNvPr id="24" name="Text 17"/>
          <p:cNvSpPr txBox="1"/>
          <p:nvPr/>
        </p:nvSpPr>
        <p:spPr>
          <a:xfrm>
            <a:off x="9774936" y="193852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MAPID Property</a:t>
            </a:r>
            <a:endParaRPr lang="en-US" sz="1800" dirty="0"/>
          </a:p>
        </p:txBody>
      </p:sp>
      <p:sp>
        <p:nvSpPr>
          <p:cNvPr id="25" name="Text 18"/>
          <p:cNvSpPr txBox="1"/>
          <p:nvPr/>
        </p:nvSpPr>
        <p:spPr>
          <a:xfrm>
            <a:off x="9162288" y="2651760"/>
            <a:ext cx="2350008" cy="1097280"/>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3,547 commercial listings with asking prices</a:t>
            </a:r>
            <a:endParaRPr lang="en-US" sz="1800" dirty="0"/>
          </a:p>
        </p:txBody>
      </p:sp>
      <p:sp>
        <p:nvSpPr>
          <p:cNvPr id="26" name="Shape 19"/>
          <p:cNvSpPr/>
          <p:nvPr/>
        </p:nvSpPr>
        <p:spPr>
          <a:xfrm>
            <a:off x="548640" y="3977640"/>
            <a:ext cx="2679192" cy="2148840"/>
          </a:xfrm>
          <a:prstGeom prst="roundRect">
            <a:avLst>
              <a:gd name="adj" fmla="val 5106"/>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27" name="Shape 20"/>
          <p:cNvSpPr/>
          <p:nvPr/>
        </p:nvSpPr>
        <p:spPr>
          <a:xfrm>
            <a:off x="713232" y="4142232"/>
            <a:ext cx="502920" cy="502920"/>
          </a:xfrm>
          <a:prstGeom prst="hexagon">
            <a:avLst/>
          </a:prstGeom>
          <a:solidFill>
            <a:srgbClr val="0071E3"/>
          </a:solidFill>
          <a:ln w="12700">
            <a:solidFill>
              <a:srgbClr val="0071E3"/>
            </a:solidFill>
            <a:prstDash val="solid"/>
          </a:ln>
        </p:spPr>
      </p:sp>
      <p:sp>
        <p:nvSpPr>
          <p:cNvPr id="28" name="Text 21"/>
          <p:cNvSpPr txBox="1"/>
          <p:nvPr/>
        </p:nvSpPr>
        <p:spPr>
          <a:xfrm>
            <a:off x="713232" y="41422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29" name="Text 22"/>
          <p:cNvSpPr txBox="1"/>
          <p:nvPr/>
        </p:nvSpPr>
        <p:spPr>
          <a:xfrm>
            <a:off x="1325880" y="408736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H3 hexagonal grid</a:t>
            </a:r>
            <a:endParaRPr lang="en-US" sz="1800" dirty="0"/>
          </a:p>
        </p:txBody>
      </p:sp>
      <p:sp>
        <p:nvSpPr>
          <p:cNvPr id="30" name="Text 23"/>
          <p:cNvSpPr txBox="1"/>
          <p:nvPr/>
        </p:nvSpPr>
        <p:spPr>
          <a:xfrm>
            <a:off x="713232" y="4782312"/>
            <a:ext cx="2350008" cy="134416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Resolution 8. 562 cells with a transit stop within an 800 m walk.</a:t>
            </a:r>
            <a:endParaRPr lang="en-US" sz="1800" dirty="0"/>
          </a:p>
        </p:txBody>
      </p:sp>
      <p:pic>
        <p:nvPicPr>
          <p:cNvPr id="31" name="Image 5" descr="/tmp/claude-0/-home-user-SpotOn/d6f8d0e4-6af9-55ea-be62-fed6943cd5f4/scratchpad/deck/icons/FiArrowRight-deep.png">    </p:cNvPr>
          <p:cNvPicPr>
            <a:picLocks noChangeAspect="1"/>
          </p:cNvPicPr>
          <p:nvPr/>
        </p:nvPicPr>
        <p:blipFill>
          <a:blip r:embed="rId6"/>
          <a:stretch>
            <a:fillRect/>
          </a:stretch>
        </p:blipFill>
        <p:spPr>
          <a:xfrm>
            <a:off x="3209544" y="4937760"/>
            <a:ext cx="182880" cy="182880"/>
          </a:xfrm>
          <a:prstGeom prst="rect">
            <a:avLst/>
          </a:prstGeom>
        </p:spPr>
      </p:pic>
      <p:sp>
        <p:nvSpPr>
          <p:cNvPr id="32" name="Shape 24"/>
          <p:cNvSpPr/>
          <p:nvPr/>
        </p:nvSpPr>
        <p:spPr>
          <a:xfrm>
            <a:off x="3364992" y="3977640"/>
            <a:ext cx="2679192" cy="2148840"/>
          </a:xfrm>
          <a:prstGeom prst="roundRect">
            <a:avLst>
              <a:gd name="adj" fmla="val 5106"/>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33" name="Shape 25"/>
          <p:cNvSpPr/>
          <p:nvPr/>
        </p:nvSpPr>
        <p:spPr>
          <a:xfrm>
            <a:off x="3529584" y="4142232"/>
            <a:ext cx="502920" cy="502920"/>
          </a:xfrm>
          <a:prstGeom prst="hexagon">
            <a:avLst/>
          </a:prstGeom>
          <a:solidFill>
            <a:srgbClr val="0071E3"/>
          </a:solidFill>
          <a:ln w="12700">
            <a:solidFill>
              <a:srgbClr val="0071E3"/>
            </a:solidFill>
            <a:prstDash val="solid"/>
          </a:ln>
        </p:spPr>
      </p:sp>
      <p:sp>
        <p:nvSpPr>
          <p:cNvPr id="34" name="Text 26"/>
          <p:cNvSpPr txBox="1"/>
          <p:nvPr/>
        </p:nvSpPr>
        <p:spPr>
          <a:xfrm>
            <a:off x="3529584" y="41422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35" name="Text 27"/>
          <p:cNvSpPr txBox="1"/>
          <p:nvPr/>
        </p:nvSpPr>
        <p:spPr>
          <a:xfrm>
            <a:off x="4142232" y="408736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Spatial join</a:t>
            </a:r>
            <a:endParaRPr lang="en-US" sz="1800" dirty="0"/>
          </a:p>
        </p:txBody>
      </p:sp>
      <p:sp>
        <p:nvSpPr>
          <p:cNvPr id="36" name="Text 28"/>
          <p:cNvSpPr txBox="1"/>
          <p:nvPr/>
        </p:nvSpPr>
        <p:spPr>
          <a:xfrm>
            <a:off x="3529584" y="4782312"/>
            <a:ext cx="2350008" cy="134416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Rivals, other trade, stops, listings and field records, per cell.</a:t>
            </a:r>
            <a:endParaRPr lang="en-US" sz="1800" dirty="0"/>
          </a:p>
        </p:txBody>
      </p:sp>
      <p:pic>
        <p:nvPicPr>
          <p:cNvPr id="37" name="Image 6" descr="/tmp/claude-0/-home-user-SpotOn/d6f8d0e4-6af9-55ea-be62-fed6943cd5f4/scratchpad/deck/icons/FiArrowRight-deep.png">    </p:cNvPr>
          <p:cNvPicPr>
            <a:picLocks noChangeAspect="1"/>
          </p:cNvPicPr>
          <p:nvPr/>
        </p:nvPicPr>
        <p:blipFill>
          <a:blip r:embed="rId7"/>
          <a:stretch>
            <a:fillRect/>
          </a:stretch>
        </p:blipFill>
        <p:spPr>
          <a:xfrm>
            <a:off x="6025896" y="4937760"/>
            <a:ext cx="182880" cy="182880"/>
          </a:xfrm>
          <a:prstGeom prst="rect">
            <a:avLst/>
          </a:prstGeom>
        </p:spPr>
      </p:pic>
      <p:sp>
        <p:nvSpPr>
          <p:cNvPr id="38" name="Shape 29"/>
          <p:cNvSpPr/>
          <p:nvPr/>
        </p:nvSpPr>
        <p:spPr>
          <a:xfrm>
            <a:off x="6181344" y="3977640"/>
            <a:ext cx="2679192" cy="2148840"/>
          </a:xfrm>
          <a:prstGeom prst="roundRect">
            <a:avLst>
              <a:gd name="adj" fmla="val 5106"/>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39" name="Shape 30"/>
          <p:cNvSpPr/>
          <p:nvPr/>
        </p:nvSpPr>
        <p:spPr>
          <a:xfrm>
            <a:off x="6345936" y="4142232"/>
            <a:ext cx="502920" cy="502920"/>
          </a:xfrm>
          <a:prstGeom prst="hexagon">
            <a:avLst/>
          </a:prstGeom>
          <a:solidFill>
            <a:srgbClr val="0071E3"/>
          </a:solidFill>
          <a:ln w="12700">
            <a:solidFill>
              <a:srgbClr val="0071E3"/>
            </a:solidFill>
            <a:prstDash val="solid"/>
          </a:ln>
        </p:spPr>
      </p:sp>
      <p:sp>
        <p:nvSpPr>
          <p:cNvPr id="40" name="Text 31"/>
          <p:cNvSpPr txBox="1"/>
          <p:nvPr/>
        </p:nvSpPr>
        <p:spPr>
          <a:xfrm>
            <a:off x="6345936" y="41422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1" name="Text 32"/>
          <p:cNvSpPr txBox="1"/>
          <p:nvPr/>
        </p:nvSpPr>
        <p:spPr>
          <a:xfrm>
            <a:off x="6958584" y="408736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Opportunity Score</a:t>
            </a:r>
            <a:endParaRPr lang="en-US" sz="1800" dirty="0"/>
          </a:p>
        </p:txBody>
      </p:sp>
      <p:sp>
        <p:nvSpPr>
          <p:cNvPr id="42" name="Text 33"/>
          <p:cNvSpPr txBox="1"/>
          <p:nvPr/>
        </p:nvSpPr>
        <p:spPr>
          <a:xfrm>
            <a:off x="6345936" y="4782312"/>
            <a:ext cx="2350008" cy="134416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(busy minus rivals) × space gate × transit access × cost of space.</a:t>
            </a:r>
            <a:endParaRPr lang="en-US" sz="1800" dirty="0"/>
          </a:p>
        </p:txBody>
      </p:sp>
      <p:pic>
        <p:nvPicPr>
          <p:cNvPr id="43" name="Image 7" descr="/tmp/claude-0/-home-user-SpotOn/d6f8d0e4-6af9-55ea-be62-fed6943cd5f4/scratchpad/deck/icons/FiArrowRight-deep.png">    </p:cNvPr>
          <p:cNvPicPr>
            <a:picLocks noChangeAspect="1"/>
          </p:cNvPicPr>
          <p:nvPr/>
        </p:nvPicPr>
        <p:blipFill>
          <a:blip r:embed="rId8"/>
          <a:stretch>
            <a:fillRect/>
          </a:stretch>
        </p:blipFill>
        <p:spPr>
          <a:xfrm>
            <a:off x="8842248" y="4937760"/>
            <a:ext cx="182880" cy="182880"/>
          </a:xfrm>
          <a:prstGeom prst="rect">
            <a:avLst/>
          </a:prstGeom>
        </p:spPr>
      </p:pic>
      <p:sp>
        <p:nvSpPr>
          <p:cNvPr id="44" name="Shape 34"/>
          <p:cNvSpPr/>
          <p:nvPr/>
        </p:nvSpPr>
        <p:spPr>
          <a:xfrm>
            <a:off x="8997696" y="3977640"/>
            <a:ext cx="2679192" cy="2148840"/>
          </a:xfrm>
          <a:prstGeom prst="roundRect">
            <a:avLst>
              <a:gd name="adj" fmla="val 5106"/>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45" name="Shape 35"/>
          <p:cNvSpPr/>
          <p:nvPr/>
        </p:nvSpPr>
        <p:spPr>
          <a:xfrm>
            <a:off x="9162288" y="4142232"/>
            <a:ext cx="502920" cy="502920"/>
          </a:xfrm>
          <a:prstGeom prst="hexagon">
            <a:avLst/>
          </a:prstGeom>
          <a:solidFill>
            <a:srgbClr val="0071E3"/>
          </a:solidFill>
          <a:ln w="12700">
            <a:solidFill>
              <a:srgbClr val="0071E3"/>
            </a:solidFill>
            <a:prstDash val="solid"/>
          </a:ln>
        </p:spPr>
      </p:sp>
      <p:sp>
        <p:nvSpPr>
          <p:cNvPr id="46" name="Text 36"/>
          <p:cNvSpPr txBox="1"/>
          <p:nvPr/>
        </p:nvSpPr>
        <p:spPr>
          <a:xfrm>
            <a:off x="9162288" y="414223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7" name="Text 37"/>
          <p:cNvSpPr txBox="1"/>
          <p:nvPr/>
        </p:nvSpPr>
        <p:spPr>
          <a:xfrm>
            <a:off x="9774936" y="4087368"/>
            <a:ext cx="1764792" cy="640080"/>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Tapak, the AI layer</a:t>
            </a:r>
            <a:endParaRPr lang="en-US" sz="1800" dirty="0"/>
          </a:p>
        </p:txBody>
      </p:sp>
      <p:sp>
        <p:nvSpPr>
          <p:cNvPr id="48" name="Text 38"/>
          <p:cNvSpPr txBox="1"/>
          <p:nvPr/>
        </p:nvSpPr>
        <p:spPr>
          <a:xfrm>
            <a:off x="9162288" y="4782312"/>
            <a:ext cx="2350008" cy="134416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The model picks the operation by function calling. The engine computes.</a:t>
            </a:r>
            <a:endParaRPr lang="en-US" sz="1800" dirty="0"/>
          </a:p>
        </p:txBody>
      </p:sp>
      <p:sp>
        <p:nvSpPr>
          <p:cNvPr id="49" name="Text 39"/>
          <p:cNvSpPr txBox="1"/>
          <p:nvPr/>
        </p:nvSpPr>
        <p:spPr>
          <a:xfrm>
            <a:off x="548640" y="6263640"/>
            <a:ext cx="11064240" cy="365760"/>
          </a:xfrm>
          <a:prstGeom prst="rect">
            <a:avLst/>
          </a:prstGeom>
          <a:noFill/>
          <a:ln/>
        </p:spPr>
        <p:txBody>
          <a:bodyPr wrap="square" lIns="0" tIns="0" rIns="0" bIns="0" rtlCol="0" anchor="t"/>
          <a:lstStyle/>
          <a:p>
            <a:pPr algn="l" indent="0" marL="0">
              <a:buNone/>
            </a:pPr>
            <a:r>
              <a:rPr lang="en-US" sz="1800" dirty="0">
                <a:solidFill>
                  <a:srgbClr val="6B7280"/>
                </a:solidFill>
                <a:latin typeface="Calibri" pitchFamily="34" charset="0"/>
                <a:ea typeface="Calibri" pitchFamily="34" charset="-122"/>
                <a:cs typeface="Calibri" pitchFamily="34" charset="-120"/>
              </a:rPr>
              <a:t>Field records never enter the score. They stay on the area card as evidence.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04 · WEBGIS FEATURES</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One map, and a guide who explains it.</a:t>
            </a:r>
            <a:endParaRPr lang="en-US" sz="3200" dirty="0"/>
          </a:p>
        </p:txBody>
      </p:sp>
      <p:sp>
        <p:nvSpPr>
          <p:cNvPr id="6" name="Shape 3"/>
          <p:cNvSpPr/>
          <p:nvPr/>
        </p:nvSpPr>
        <p:spPr>
          <a:xfrm>
            <a:off x="548640" y="1920240"/>
            <a:ext cx="548640" cy="548640"/>
          </a:xfrm>
          <a:prstGeom prst="hexagon">
            <a:avLst/>
          </a:prstGeom>
          <a:solidFill>
            <a:srgbClr val="E1ECFA"/>
          </a:solidFill>
          <a:ln w="12700">
            <a:solidFill>
              <a:srgbClr val="E1ECFA"/>
            </a:solidFill>
            <a:prstDash val="solid"/>
          </a:ln>
        </p:spPr>
      </p:sp>
      <p:pic>
        <p:nvPicPr>
          <p:cNvPr id="7" name="Image 1" descr="/tmp/claude-0/-home-user-SpotOn/d6f8d0e4-6af9-55ea-be62-fed6943cd5f4/scratchpad/deck/icons/FiMap-blue.png">    </p:cNvPr>
          <p:cNvPicPr>
            <a:picLocks noChangeAspect="1"/>
          </p:cNvPicPr>
          <p:nvPr/>
        </p:nvPicPr>
        <p:blipFill>
          <a:blip r:embed="rId2"/>
          <a:stretch>
            <a:fillRect/>
          </a:stretch>
        </p:blipFill>
        <p:spPr>
          <a:xfrm>
            <a:off x="691286" y="2062886"/>
            <a:ext cx="263347" cy="263347"/>
          </a:xfrm>
          <a:prstGeom prst="rect">
            <a:avLst/>
          </a:prstGeom>
        </p:spPr>
      </p:pic>
      <p:sp>
        <p:nvSpPr>
          <p:cNvPr id="8" name="Text 4"/>
          <p:cNvSpPr txBox="1"/>
          <p:nvPr/>
        </p:nvSpPr>
        <p:spPr>
          <a:xfrm>
            <a:off x="1280160" y="1874520"/>
            <a:ext cx="411480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Map on MAPID MAPS</a:t>
            </a:r>
            <a:endParaRPr lang="en-US" sz="2000" dirty="0"/>
          </a:p>
        </p:txBody>
      </p:sp>
      <p:sp>
        <p:nvSpPr>
          <p:cNvPr id="9" name="Text 5"/>
          <p:cNvSpPr txBox="1"/>
          <p:nvPr/>
        </p:nvSpPr>
        <p:spPr>
          <a:xfrm>
            <a:off x="1280160" y="2258568"/>
            <a:ext cx="4114800" cy="74980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562 hexagons, flat or 3D. Zoom, click, filter, layers, table.</a:t>
            </a:r>
            <a:endParaRPr lang="en-US" sz="1800" dirty="0"/>
          </a:p>
        </p:txBody>
      </p:sp>
      <p:sp>
        <p:nvSpPr>
          <p:cNvPr id="10" name="Shape 6"/>
          <p:cNvSpPr/>
          <p:nvPr/>
        </p:nvSpPr>
        <p:spPr>
          <a:xfrm>
            <a:off x="548640" y="3063240"/>
            <a:ext cx="548640" cy="548640"/>
          </a:xfrm>
          <a:prstGeom prst="hexagon">
            <a:avLst/>
          </a:prstGeom>
          <a:solidFill>
            <a:srgbClr val="E1ECFA"/>
          </a:solidFill>
          <a:ln w="12700">
            <a:solidFill>
              <a:srgbClr val="E1ECFA"/>
            </a:solidFill>
            <a:prstDash val="solid"/>
          </a:ln>
        </p:spPr>
      </p:sp>
      <p:pic>
        <p:nvPicPr>
          <p:cNvPr id="11" name="Image 2" descr="/tmp/claude-0/-home-user-SpotOn/d6f8d0e4-6af9-55ea-be62-fed6943cd5f4/scratchpad/deck/icons/FiMessageCircle-blue.png">    </p:cNvPr>
          <p:cNvPicPr>
            <a:picLocks noChangeAspect="1"/>
          </p:cNvPicPr>
          <p:nvPr/>
        </p:nvPicPr>
        <p:blipFill>
          <a:blip r:embed="rId3"/>
          <a:stretch>
            <a:fillRect/>
          </a:stretch>
        </p:blipFill>
        <p:spPr>
          <a:xfrm>
            <a:off x="691286" y="3205886"/>
            <a:ext cx="263347" cy="263347"/>
          </a:xfrm>
          <a:prstGeom prst="rect">
            <a:avLst/>
          </a:prstGeom>
        </p:spPr>
      </p:pic>
      <p:sp>
        <p:nvSpPr>
          <p:cNvPr id="12" name="Text 7"/>
          <p:cNvSpPr txBox="1"/>
          <p:nvPr/>
        </p:nvSpPr>
        <p:spPr>
          <a:xfrm>
            <a:off x="1280160" y="3017520"/>
            <a:ext cx="411480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Tapak, the AI guide</a:t>
            </a:r>
            <a:endParaRPr lang="en-US" sz="2000" dirty="0"/>
          </a:p>
        </p:txBody>
      </p:sp>
      <p:sp>
        <p:nvSpPr>
          <p:cNvPr id="13" name="Text 8"/>
          <p:cNvSpPr txBox="1"/>
          <p:nvPr/>
        </p:nvSpPr>
        <p:spPr>
          <a:xfrm>
            <a:off x="1280160" y="3401568"/>
            <a:ext cx="4114800" cy="74980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Ask in Indonesian or English. The map recolours with the answer.</a:t>
            </a:r>
            <a:endParaRPr lang="en-US" sz="1800" dirty="0"/>
          </a:p>
        </p:txBody>
      </p:sp>
      <p:sp>
        <p:nvSpPr>
          <p:cNvPr id="14" name="Shape 9"/>
          <p:cNvSpPr/>
          <p:nvPr/>
        </p:nvSpPr>
        <p:spPr>
          <a:xfrm>
            <a:off x="548640" y="4206240"/>
            <a:ext cx="548640" cy="548640"/>
          </a:xfrm>
          <a:prstGeom prst="hexagon">
            <a:avLst/>
          </a:prstGeom>
          <a:solidFill>
            <a:srgbClr val="E1ECFA"/>
          </a:solidFill>
          <a:ln w="12700">
            <a:solidFill>
              <a:srgbClr val="E1ECFA"/>
            </a:solidFill>
            <a:prstDash val="solid"/>
          </a:ln>
        </p:spPr>
      </p:sp>
      <p:pic>
        <p:nvPicPr>
          <p:cNvPr id="15" name="Image 3" descr="/tmp/claude-0/-home-user-SpotOn/d6f8d0e4-6af9-55ea-be62-fed6943cd5f4/scratchpad/deck/icons/FiBarChart2-blue.png">    </p:cNvPr>
          <p:cNvPicPr>
            <a:picLocks noChangeAspect="1"/>
          </p:cNvPicPr>
          <p:nvPr/>
        </p:nvPicPr>
        <p:blipFill>
          <a:blip r:embed="rId4"/>
          <a:stretch>
            <a:fillRect/>
          </a:stretch>
        </p:blipFill>
        <p:spPr>
          <a:xfrm>
            <a:off x="691286" y="4348886"/>
            <a:ext cx="263347" cy="263347"/>
          </a:xfrm>
          <a:prstGeom prst="rect">
            <a:avLst/>
          </a:prstGeom>
        </p:spPr>
      </p:pic>
      <p:sp>
        <p:nvSpPr>
          <p:cNvPr id="16" name="Text 10"/>
          <p:cNvSpPr txBox="1"/>
          <p:nvPr/>
        </p:nvSpPr>
        <p:spPr>
          <a:xfrm>
            <a:off x="1280160" y="4160520"/>
            <a:ext cx="411480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Area card</a:t>
            </a:r>
            <a:endParaRPr lang="en-US" sz="2000" dirty="0"/>
          </a:p>
        </p:txBody>
      </p:sp>
      <p:sp>
        <p:nvSpPr>
          <p:cNvPr id="17" name="Text 11"/>
          <p:cNvSpPr txBox="1"/>
          <p:nvPr/>
        </p:nvSpPr>
        <p:spPr>
          <a:xfrm>
            <a:off x="1280160" y="4544568"/>
            <a:ext cx="4114800" cy="74980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Score breakdown, rivals, transit, hours, space cost, field notes.</a:t>
            </a:r>
            <a:endParaRPr lang="en-US" sz="1800" dirty="0"/>
          </a:p>
        </p:txBody>
      </p:sp>
      <p:sp>
        <p:nvSpPr>
          <p:cNvPr id="18" name="Shape 12"/>
          <p:cNvSpPr/>
          <p:nvPr/>
        </p:nvSpPr>
        <p:spPr>
          <a:xfrm>
            <a:off x="548640" y="5349240"/>
            <a:ext cx="548640" cy="548640"/>
          </a:xfrm>
          <a:prstGeom prst="hexagon">
            <a:avLst/>
          </a:prstGeom>
          <a:solidFill>
            <a:srgbClr val="E1ECFA"/>
          </a:solidFill>
          <a:ln w="12700">
            <a:solidFill>
              <a:srgbClr val="E1ECFA"/>
            </a:solidFill>
            <a:prstDash val="solid"/>
          </a:ln>
        </p:spPr>
      </p:sp>
      <p:pic>
        <p:nvPicPr>
          <p:cNvPr id="19" name="Image 4" descr="/tmp/claude-0/-home-user-SpotOn/d6f8d0e4-6af9-55ea-be62-fed6943cd5f4/scratchpad/deck/icons/FiHome-blue.png">    </p:cNvPr>
          <p:cNvPicPr>
            <a:picLocks noChangeAspect="1"/>
          </p:cNvPicPr>
          <p:nvPr/>
        </p:nvPicPr>
        <p:blipFill>
          <a:blip r:embed="rId5"/>
          <a:stretch>
            <a:fillRect/>
          </a:stretch>
        </p:blipFill>
        <p:spPr>
          <a:xfrm>
            <a:off x="691286" y="5491886"/>
            <a:ext cx="263347" cy="263347"/>
          </a:xfrm>
          <a:prstGeom prst="rect">
            <a:avLst/>
          </a:prstGeom>
        </p:spPr>
      </p:pic>
      <p:sp>
        <p:nvSpPr>
          <p:cNvPr id="20" name="Text 13"/>
          <p:cNvSpPr txBox="1"/>
          <p:nvPr/>
        </p:nvSpPr>
        <p:spPr>
          <a:xfrm>
            <a:off x="1280160" y="5303520"/>
            <a:ext cx="4114800" cy="365760"/>
          </a:xfrm>
          <a:prstGeom prst="rect">
            <a:avLst/>
          </a:prstGeom>
          <a:noFill/>
          <a:ln/>
        </p:spPr>
        <p:txBody>
          <a:bodyPr wrap="square" lIns="0" tIns="0" rIns="0" bIns="0" rtlCol="0" anchor="t"/>
          <a:lstStyle/>
          <a:p>
            <a:pPr algn="l" indent="0" marL="0">
              <a:buNone/>
            </a:pPr>
            <a:r>
              <a:rPr lang="en-US" sz="2000" b="1" dirty="0">
                <a:solidFill>
                  <a:srgbClr val="0B0C0E"/>
                </a:solidFill>
                <a:latin typeface="Calibri" pitchFamily="34" charset="0"/>
                <a:ea typeface="Calibri" pitchFamily="34" charset="-122"/>
                <a:cs typeface="Calibri" pitchFamily="34" charset="-120"/>
              </a:rPr>
              <a:t>Place pivot</a:t>
            </a:r>
            <a:endParaRPr lang="en-US" sz="2000" dirty="0"/>
          </a:p>
        </p:txBody>
      </p:sp>
      <p:sp>
        <p:nvSpPr>
          <p:cNvPr id="21" name="Text 14"/>
          <p:cNvSpPr txBox="1"/>
          <p:nvPr/>
        </p:nvSpPr>
        <p:spPr>
          <a:xfrm>
            <a:off x="1280160" y="5687568"/>
            <a:ext cx="4114800" cy="74980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Every premise on the market, ranked with the score of its area.</a:t>
            </a:r>
            <a:endParaRPr lang="en-US" sz="1800" dirty="0"/>
          </a:p>
        </p:txBody>
      </p:sp>
      <p:pic>
        <p:nvPicPr>
          <p:cNvPr id="22" name="Image 5" descr="/tmp/claude-0/-home-user-SpotOn/d6f8d0e4-6af9-55ea-be62-fed6943cd5f4/scratchpad/crops/app-rank-r.png">    </p:cNvPr>
          <p:cNvPicPr>
            <a:picLocks noChangeAspect="1"/>
          </p:cNvPicPr>
          <p:nvPr/>
        </p:nvPicPr>
        <p:blipFill>
          <a:blip r:embed="rId6"/>
          <a:stretch>
            <a:fillRect/>
          </a:stretch>
        </p:blipFill>
        <p:spPr>
          <a:xfrm>
            <a:off x="5669280" y="1874520"/>
            <a:ext cx="5971032" cy="3355848"/>
          </a:xfrm>
          <a:prstGeom prst="rect">
            <a:avLst/>
          </a:prstGeom>
        </p:spPr>
      </p:pic>
      <p:sp>
        <p:nvSpPr>
          <p:cNvPr id="23" name="Text 15"/>
          <p:cNvSpPr txBox="1"/>
          <p:nvPr/>
        </p:nvSpPr>
        <p:spPr>
          <a:xfrm>
            <a:off x="5669280" y="5349240"/>
            <a:ext cx="5971032" cy="731520"/>
          </a:xfrm>
          <a:prstGeom prst="rect">
            <a:avLst/>
          </a:prstGeom>
          <a:noFill/>
          <a:ln/>
        </p:spPr>
        <p:txBody>
          <a:bodyPr wrap="square" lIns="0" tIns="0" rIns="0" bIns="0" rtlCol="0" anchor="t"/>
          <a:lstStyle/>
          <a:p>
            <a:pPr algn="l" indent="0" marL="0">
              <a:buNone/>
            </a:pPr>
            <a:r>
              <a:rPr lang="en-US" sz="1800" dirty="0">
                <a:solidFill>
                  <a:srgbClr val="6B7280"/>
                </a:solidFill>
                <a:latin typeface="Calibri" pitchFamily="34" charset="0"/>
                <a:ea typeface="Calibri" pitchFamily="34" charset="-122"/>
                <a:cs typeface="Calibri" pitchFamily="34" charset="-120"/>
              </a:rPr>
              <a:t>A coffee shop question answered on the live map: ranked cells, reasons, and follow-ups.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05 · RESULTS &amp; INSIGHTS</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What the map says about coffee shops.</a:t>
            </a:r>
            <a:endParaRPr lang="en-US" sz="3200" dirty="0"/>
          </a:p>
        </p:txBody>
      </p:sp>
      <p:pic>
        <p:nvPicPr>
          <p:cNvPr id="6" name="Image 1" descr="/tmp/claude-0/-home-user-SpotOn/d6f8d0e4-6af9-55ea-be62-fed6943cd5f4/scratchpad/crops/map-3d-r.png">    </p:cNvPr>
          <p:cNvPicPr>
            <a:picLocks noChangeAspect="1"/>
          </p:cNvPicPr>
          <p:nvPr/>
        </p:nvPicPr>
        <p:blipFill>
          <a:blip r:embed="rId2"/>
          <a:stretch>
            <a:fillRect/>
          </a:stretch>
        </p:blipFill>
        <p:spPr>
          <a:xfrm>
            <a:off x="548640" y="1874520"/>
            <a:ext cx="5120640" cy="4014216"/>
          </a:xfrm>
          <a:prstGeom prst="rect">
            <a:avLst/>
          </a:prstGeom>
        </p:spPr>
      </p:pic>
      <p:sp>
        <p:nvSpPr>
          <p:cNvPr id="7" name="Text 3"/>
          <p:cNvSpPr txBox="1"/>
          <p:nvPr/>
        </p:nvSpPr>
        <p:spPr>
          <a:xfrm>
            <a:off x="548640" y="5989320"/>
            <a:ext cx="5120640" cy="548640"/>
          </a:xfrm>
          <a:prstGeom prst="rect">
            <a:avLst/>
          </a:prstGeom>
          <a:noFill/>
          <a:ln/>
        </p:spPr>
        <p:txBody>
          <a:bodyPr wrap="square" lIns="0" tIns="0" rIns="0" bIns="0" rtlCol="0" anchor="t"/>
          <a:lstStyle/>
          <a:p>
            <a:pPr algn="l" indent="0" marL="0">
              <a:buNone/>
            </a:pPr>
            <a:r>
              <a:rPr lang="en-US" sz="1800" dirty="0">
                <a:solidFill>
                  <a:srgbClr val="6B7280"/>
                </a:solidFill>
                <a:latin typeface="Calibri" pitchFamily="34" charset="0"/>
                <a:ea typeface="Calibri" pitchFamily="34" charset="-122"/>
                <a:cs typeface="Calibri" pitchFamily="34" charset="-120"/>
              </a:rPr>
              <a:t>Coffee shop opportunity score, all 562 cells, 3D view.</a:t>
            </a:r>
            <a:endParaRPr lang="en-US" sz="1800" dirty="0"/>
          </a:p>
        </p:txBody>
      </p:sp>
      <p:sp>
        <p:nvSpPr>
          <p:cNvPr id="8" name="Shape 4"/>
          <p:cNvSpPr/>
          <p:nvPr/>
        </p:nvSpPr>
        <p:spPr>
          <a:xfrm>
            <a:off x="5943600" y="1874520"/>
            <a:ext cx="5696712" cy="1417320"/>
          </a:xfrm>
          <a:prstGeom prst="roundRect">
            <a:avLst>
              <a:gd name="adj" fmla="val 7742"/>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9" name="Text 5"/>
          <p:cNvSpPr txBox="1"/>
          <p:nvPr/>
        </p:nvSpPr>
        <p:spPr>
          <a:xfrm>
            <a:off x="6172200" y="1965960"/>
            <a:ext cx="5239512" cy="457200"/>
          </a:xfrm>
          <a:prstGeom prst="rect">
            <a:avLst/>
          </a:prstGeom>
          <a:noFill/>
          <a:ln/>
        </p:spPr>
        <p:txBody>
          <a:bodyPr wrap="square" lIns="0" tIns="0" rIns="0" bIns="0" rtlCol="0" anchor="ctr"/>
          <a:lstStyle/>
          <a:p>
            <a:pPr algn="l" indent="0" marL="0">
              <a:buNone/>
            </a:pPr>
            <a:r>
              <a:rPr lang="en-US" sz="2600" b="1" dirty="0">
                <a:solidFill>
                  <a:srgbClr val="0071E3"/>
                </a:solidFill>
                <a:latin typeface="Calibri" pitchFamily="34" charset="0"/>
                <a:ea typeface="Calibri" pitchFamily="34" charset="-122"/>
                <a:cs typeface="Calibri" pitchFamily="34" charset="-120"/>
              </a:rPr>
              <a:t>37 · 508 · 17</a:t>
            </a:r>
            <a:endParaRPr lang="en-US" sz="2600" dirty="0"/>
          </a:p>
        </p:txBody>
      </p:sp>
      <p:sp>
        <p:nvSpPr>
          <p:cNvPr id="10" name="Text 6"/>
          <p:cNvSpPr txBox="1"/>
          <p:nvPr/>
        </p:nvSpPr>
        <p:spPr>
          <a:xfrm>
            <a:off x="6172200" y="2423160"/>
            <a:ext cx="5239512" cy="84124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cells underserved, competitive and saturated. Most of the city is contested. The gaps are few and specific.</a:t>
            </a:r>
            <a:endParaRPr lang="en-US" sz="1800" dirty="0"/>
          </a:p>
        </p:txBody>
      </p:sp>
      <p:sp>
        <p:nvSpPr>
          <p:cNvPr id="11" name="Shape 7"/>
          <p:cNvSpPr/>
          <p:nvPr/>
        </p:nvSpPr>
        <p:spPr>
          <a:xfrm>
            <a:off x="5943600" y="3383280"/>
            <a:ext cx="5696712" cy="1417320"/>
          </a:xfrm>
          <a:prstGeom prst="roundRect">
            <a:avLst>
              <a:gd name="adj" fmla="val 7742"/>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2" name="Text 8"/>
          <p:cNvSpPr txBox="1"/>
          <p:nvPr/>
        </p:nvSpPr>
        <p:spPr>
          <a:xfrm>
            <a:off x="6172200" y="3474720"/>
            <a:ext cx="5239512" cy="457200"/>
          </a:xfrm>
          <a:prstGeom prst="rect">
            <a:avLst/>
          </a:prstGeom>
          <a:noFill/>
          <a:ln/>
        </p:spPr>
        <p:txBody>
          <a:bodyPr wrap="square" lIns="0" tIns="0" rIns="0" bIns="0" rtlCol="0" anchor="ctr"/>
          <a:lstStyle/>
          <a:p>
            <a:pPr algn="l" indent="0" marL="0">
              <a:buNone/>
            </a:pPr>
            <a:r>
              <a:rPr lang="en-US" sz="2600" b="1" dirty="0">
                <a:solidFill>
                  <a:srgbClr val="0071E3"/>
                </a:solidFill>
                <a:latin typeface="Calibri" pitchFamily="34" charset="0"/>
                <a:ea typeface="Calibri" pitchFamily="34" charset="-122"/>
                <a:cs typeface="Calibri" pitchFamily="34" charset="-120"/>
              </a:rPr>
              <a:t>Rawa Selatan · 65</a:t>
            </a:r>
            <a:endParaRPr lang="en-US" sz="2600" dirty="0"/>
          </a:p>
        </p:txBody>
      </p:sp>
      <p:sp>
        <p:nvSpPr>
          <p:cNvPr id="13" name="Text 9"/>
          <p:cNvSpPr txBox="1"/>
          <p:nvPr/>
        </p:nvSpPr>
        <p:spPr>
          <a:xfrm>
            <a:off x="6172200" y="3931920"/>
            <a:ext cx="5239512" cy="84124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273 businesses in walking range, only 5 coffee shops, 12 units on the market, 4 transit nodes.</a:t>
            </a:r>
            <a:endParaRPr lang="en-US" sz="1800" dirty="0"/>
          </a:p>
        </p:txBody>
      </p:sp>
      <p:sp>
        <p:nvSpPr>
          <p:cNvPr id="14" name="Shape 10"/>
          <p:cNvSpPr/>
          <p:nvPr/>
        </p:nvSpPr>
        <p:spPr>
          <a:xfrm>
            <a:off x="5943600" y="4892040"/>
            <a:ext cx="5696712" cy="1417320"/>
          </a:xfrm>
          <a:prstGeom prst="roundRect">
            <a:avLst>
              <a:gd name="adj" fmla="val 7742"/>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5" name="Text 11"/>
          <p:cNvSpPr txBox="1"/>
          <p:nvPr/>
        </p:nvSpPr>
        <p:spPr>
          <a:xfrm>
            <a:off x="6172200" y="4983480"/>
            <a:ext cx="5239512" cy="457200"/>
          </a:xfrm>
          <a:prstGeom prst="rect">
            <a:avLst/>
          </a:prstGeom>
          <a:noFill/>
          <a:ln/>
        </p:spPr>
        <p:txBody>
          <a:bodyPr wrap="square" lIns="0" tIns="0" rIns="0" bIns="0" rtlCol="0" anchor="ctr"/>
          <a:lstStyle/>
          <a:p>
            <a:pPr algn="l" indent="0" marL="0">
              <a:buNone/>
            </a:pPr>
            <a:r>
              <a:rPr lang="en-US" sz="2600" b="1" dirty="0">
                <a:solidFill>
                  <a:srgbClr val="0071E3"/>
                </a:solidFill>
                <a:latin typeface="Calibri" pitchFamily="34" charset="0"/>
                <a:ea typeface="Calibri" pitchFamily="34" charset="-122"/>
                <a:cs typeface="Calibri" pitchFamily="34" charset="-120"/>
              </a:rPr>
              <a:t>462 + 100</a:t>
            </a:r>
            <a:endParaRPr lang="en-US" sz="2600" dirty="0"/>
          </a:p>
        </p:txBody>
      </p:sp>
      <p:sp>
        <p:nvSpPr>
          <p:cNvPr id="16" name="Text 12"/>
          <p:cNvSpPr txBox="1"/>
          <p:nvPr/>
        </p:nvSpPr>
        <p:spPr>
          <a:xfrm>
            <a:off x="6172200" y="5440680"/>
            <a:ext cx="5239512" cy="841248"/>
          </a:xfrm>
          <a:prstGeom prst="rect">
            <a:avLst/>
          </a:prstGeom>
          <a:noFill/>
          <a:ln/>
        </p:spPr>
        <p:txBody>
          <a:bodyPr wrap="square" lIns="0" tIns="0" rIns="0" bIns="0" rtlCol="0" anchor="t"/>
          <a:lstStyle/>
          <a:p>
            <a:pPr algn="l" indent="0" marL="0">
              <a:buNone/>
            </a:pPr>
            <a:r>
              <a:rPr lang="en-US" sz="1800" dirty="0">
                <a:solidFill>
                  <a:srgbClr val="3A3D45"/>
                </a:solidFill>
                <a:latin typeface="Calibri" pitchFamily="34" charset="0"/>
                <a:ea typeface="Calibri" pitchFamily="34" charset="-122"/>
                <a:cs typeface="Calibri" pitchFamily="34" charset="-120"/>
              </a:rPr>
              <a:t>cells scored, and cells left unscored because no source has surveyed their city. Never interpolated.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EF1"/>
        </a:solidFill>
      </p:bgPr>
    </p:bg>
    <p:spTree>
      <p:nvGrpSpPr>
        <p:cNvPr id="1" name=""/>
        <p:cNvGrpSpPr/>
        <p:nvPr/>
      </p:nvGrpSpPr>
      <p:grpSpPr>
        <a:xfrm>
          <a:off x="0" y="0"/>
          <a:ext cx="0" cy="0"/>
          <a:chOff x="0" y="0"/>
          <a:chExt cx="0" cy="0"/>
        </a:xfrm>
      </p:grpSpPr>
      <p:pic>
        <p:nvPicPr>
          <p:cNvPr id="2" name="Image 0" descr="/tmp/claude-0/-home-user-SpotOn/d6f8d0e4-6af9-55ea-be62-fed6943cd5f4/scratchpad/assets/mark-ink.png">    </p:cNvPr>
          <p:cNvPicPr>
            <a:picLocks noChangeAspect="1"/>
          </p:cNvPicPr>
          <p:nvPr/>
        </p:nvPicPr>
        <p:blipFill>
          <a:blip r:embed="rId1"/>
          <a:stretch>
            <a:fillRect/>
          </a:stretch>
        </p:blipFill>
        <p:spPr>
          <a:xfrm>
            <a:off x="10607040" y="365760"/>
            <a:ext cx="384048" cy="384048"/>
          </a:xfrm>
          <a:prstGeom prst="rect">
            <a:avLst/>
          </a:prstGeom>
        </p:spPr>
      </p:pic>
      <p:sp>
        <p:nvSpPr>
          <p:cNvPr id="3" name="Text 0"/>
          <p:cNvSpPr txBox="1"/>
          <p:nvPr/>
        </p:nvSpPr>
        <p:spPr>
          <a:xfrm>
            <a:off x="11018520" y="365760"/>
            <a:ext cx="1097280" cy="384048"/>
          </a:xfrm>
          <a:prstGeom prst="rect">
            <a:avLst/>
          </a:prstGeom>
          <a:noFill/>
          <a:ln/>
        </p:spPr>
        <p:txBody>
          <a:bodyPr wrap="square" lIns="0" tIns="0" rIns="0" bIns="0" rtlCol="0" anchor="ctr"/>
          <a:lstStyle/>
          <a:p>
            <a:pPr algn="l" indent="0" marL="0">
              <a:buNone/>
            </a:pPr>
            <a:r>
              <a:rPr lang="en-US" sz="1800" b="1" dirty="0">
                <a:solidFill>
                  <a:srgbClr val="0B0C0E"/>
                </a:solidFill>
                <a:latin typeface="Calibri" pitchFamily="34" charset="0"/>
                <a:ea typeface="Calibri" pitchFamily="34" charset="-122"/>
                <a:cs typeface="Calibri" pitchFamily="34" charset="-120"/>
              </a:rPr>
              <a:t>SpotOn</a:t>
            </a:r>
            <a:endParaRPr lang="en-US" sz="1800" dirty="0"/>
          </a:p>
        </p:txBody>
      </p:sp>
      <p:sp>
        <p:nvSpPr>
          <p:cNvPr id="4" name="Text 1"/>
          <p:cNvSpPr txBox="1"/>
          <p:nvPr/>
        </p:nvSpPr>
        <p:spPr>
          <a:xfrm>
            <a:off x="548640" y="384048"/>
            <a:ext cx="7315200" cy="320040"/>
          </a:xfrm>
          <a:prstGeom prst="rect">
            <a:avLst/>
          </a:prstGeom>
          <a:noFill/>
          <a:ln/>
        </p:spPr>
        <p:txBody>
          <a:bodyPr wrap="square" lIns="0" tIns="0" rIns="0" bIns="0" rtlCol="0" anchor="t"/>
          <a:lstStyle/>
          <a:p>
            <a:pPr algn="l" indent="0" marL="0">
              <a:buNone/>
            </a:pPr>
            <a:r>
              <a:rPr lang="en-US" sz="1800" b="1" spc="200" kern="0" dirty="0">
                <a:solidFill>
                  <a:srgbClr val="0071E3"/>
                </a:solidFill>
                <a:latin typeface="Calibri" pitchFamily="34" charset="0"/>
                <a:ea typeface="Calibri" pitchFamily="34" charset="-122"/>
                <a:cs typeface="Calibri" pitchFamily="34" charset="-120"/>
              </a:rPr>
              <a:t>06 · IMPACT &amp; CLOSING</a:t>
            </a:r>
            <a:endParaRPr lang="en-US" sz="1800" dirty="0"/>
          </a:p>
        </p:txBody>
      </p:sp>
      <p:sp>
        <p:nvSpPr>
          <p:cNvPr id="5" name="Text 2"/>
          <p:cNvSpPr txBox="1"/>
          <p:nvPr/>
        </p:nvSpPr>
        <p:spPr>
          <a:xfrm>
            <a:off x="548640" y="713232"/>
            <a:ext cx="8686800" cy="1097280"/>
          </a:xfrm>
          <a:prstGeom prst="rect">
            <a:avLst/>
          </a:prstGeom>
          <a:noFill/>
          <a:ln/>
        </p:spPr>
        <p:txBody>
          <a:bodyPr wrap="square" lIns="0" tIns="0" rIns="0" bIns="0" rtlCol="0" anchor="t"/>
          <a:lstStyle/>
          <a:p>
            <a:pPr algn="l" indent="0" marL="0">
              <a:buNone/>
            </a:pPr>
            <a:r>
              <a:rPr lang="en-US" sz="3200" b="1" dirty="0">
                <a:solidFill>
                  <a:srgbClr val="0B0C0E"/>
                </a:solidFill>
                <a:latin typeface="Calibri" pitchFamily="34" charset="0"/>
                <a:ea typeface="Calibri" pitchFamily="34" charset="-122"/>
                <a:cs typeface="Calibri" pitchFamily="34" charset="-120"/>
              </a:rPr>
              <a:t>A map that answers, not one that just displays.</a:t>
            </a:r>
            <a:endParaRPr lang="en-US" sz="3200" dirty="0"/>
          </a:p>
        </p:txBody>
      </p:sp>
      <p:sp>
        <p:nvSpPr>
          <p:cNvPr id="6" name="Shape 3"/>
          <p:cNvSpPr/>
          <p:nvPr/>
        </p:nvSpPr>
        <p:spPr>
          <a:xfrm>
            <a:off x="548640" y="1874520"/>
            <a:ext cx="5422392" cy="2057400"/>
          </a:xfrm>
          <a:prstGeom prst="roundRect">
            <a:avLst>
              <a:gd name="adj" fmla="val 5333"/>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7" name="Shape 4"/>
          <p:cNvSpPr/>
          <p:nvPr/>
        </p:nvSpPr>
        <p:spPr>
          <a:xfrm>
            <a:off x="731520" y="2039112"/>
            <a:ext cx="502920" cy="502920"/>
          </a:xfrm>
          <a:prstGeom prst="hexagon">
            <a:avLst/>
          </a:prstGeom>
          <a:solidFill>
            <a:srgbClr val="E1ECFA"/>
          </a:solidFill>
          <a:ln w="12700">
            <a:solidFill>
              <a:srgbClr val="E1ECFA"/>
            </a:solidFill>
            <a:prstDash val="solid"/>
          </a:ln>
        </p:spPr>
      </p:sp>
      <p:pic>
        <p:nvPicPr>
          <p:cNvPr id="8" name="Image 1" descr="/tmp/claude-0/-home-user-SpotOn/d6f8d0e4-6af9-55ea-be62-fed6943cd5f4/scratchpad/deck/icons/FiTrendingUp-blue.png">    </p:cNvPr>
          <p:cNvPicPr>
            <a:picLocks noChangeAspect="1"/>
          </p:cNvPicPr>
          <p:nvPr/>
        </p:nvPicPr>
        <p:blipFill>
          <a:blip r:embed="rId2"/>
          <a:stretch>
            <a:fillRect/>
          </a:stretch>
        </p:blipFill>
        <p:spPr>
          <a:xfrm>
            <a:off x="862279" y="2169871"/>
            <a:ext cx="241402" cy="241402"/>
          </a:xfrm>
          <a:prstGeom prst="rect">
            <a:avLst/>
          </a:prstGeom>
        </p:spPr>
      </p:pic>
      <p:sp>
        <p:nvSpPr>
          <p:cNvPr id="9" name="Text 5"/>
          <p:cNvSpPr txBox="1"/>
          <p:nvPr/>
        </p:nvSpPr>
        <p:spPr>
          <a:xfrm>
            <a:off x="1371600" y="2057400"/>
            <a:ext cx="4416552" cy="457200"/>
          </a:xfrm>
          <a:prstGeom prst="rect">
            <a:avLst/>
          </a:prstGeom>
          <a:noFill/>
          <a:ln/>
        </p:spPr>
        <p:txBody>
          <a:bodyPr wrap="square" lIns="0" tIns="0" rIns="0" bIns="0" rtlCol="0" anchor="ctr"/>
          <a:lstStyle/>
          <a:p>
            <a:pPr algn="l" indent="0" marL="0">
              <a:buNone/>
            </a:pPr>
            <a:r>
              <a:rPr lang="en-US" sz="2000" b="1" dirty="0">
                <a:solidFill>
                  <a:srgbClr val="0B0C0E"/>
                </a:solidFill>
                <a:latin typeface="Calibri" pitchFamily="34" charset="0"/>
                <a:ea typeface="Calibri" pitchFamily="34" charset="-122"/>
                <a:cs typeface="Calibri" pitchFamily="34" charset="-120"/>
              </a:rPr>
              <a:t>Benefits</a:t>
            </a:r>
            <a:endParaRPr lang="en-US" sz="2000" dirty="0"/>
          </a:p>
        </p:txBody>
      </p:sp>
      <p:sp>
        <p:nvSpPr>
          <p:cNvPr id="10" name="Text 6"/>
          <p:cNvSpPr txBox="1"/>
          <p:nvPr/>
        </p:nvSpPr>
        <p:spPr>
          <a:xfrm>
            <a:off x="731520" y="2624328"/>
            <a:ext cx="5056632" cy="12801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Less risk of the wrong location</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Data, not hunches, for small firms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Every figure traceable to its N</a:t>
            </a:r>
            <a:endParaRPr lang="en-US" sz="1800" dirty="0"/>
          </a:p>
        </p:txBody>
      </p:sp>
      <p:sp>
        <p:nvSpPr>
          <p:cNvPr id="11" name="Shape 7"/>
          <p:cNvSpPr/>
          <p:nvPr/>
        </p:nvSpPr>
        <p:spPr>
          <a:xfrm>
            <a:off x="6217920" y="1874520"/>
            <a:ext cx="5422392" cy="2057400"/>
          </a:xfrm>
          <a:prstGeom prst="roundRect">
            <a:avLst>
              <a:gd name="adj" fmla="val 5333"/>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2" name="Shape 8"/>
          <p:cNvSpPr/>
          <p:nvPr/>
        </p:nvSpPr>
        <p:spPr>
          <a:xfrm>
            <a:off x="6400800" y="2039112"/>
            <a:ext cx="502920" cy="502920"/>
          </a:xfrm>
          <a:prstGeom prst="hexagon">
            <a:avLst/>
          </a:prstGeom>
          <a:solidFill>
            <a:srgbClr val="E1ECFA"/>
          </a:solidFill>
          <a:ln w="12700">
            <a:solidFill>
              <a:srgbClr val="E1ECFA"/>
            </a:solidFill>
            <a:prstDash val="solid"/>
          </a:ln>
        </p:spPr>
      </p:sp>
      <p:pic>
        <p:nvPicPr>
          <p:cNvPr id="13" name="Image 2" descr="/tmp/claude-0/-home-user-SpotOn/d6f8d0e4-6af9-55ea-be62-fed6943cd5f4/scratchpad/deck/icons/FiGlobe-blue.png">    </p:cNvPr>
          <p:cNvPicPr>
            <a:picLocks noChangeAspect="1"/>
          </p:cNvPicPr>
          <p:nvPr/>
        </p:nvPicPr>
        <p:blipFill>
          <a:blip r:embed="rId3"/>
          <a:stretch>
            <a:fillRect/>
          </a:stretch>
        </p:blipFill>
        <p:spPr>
          <a:xfrm>
            <a:off x="6531559" y="2169871"/>
            <a:ext cx="241402" cy="241402"/>
          </a:xfrm>
          <a:prstGeom prst="rect">
            <a:avLst/>
          </a:prstGeom>
        </p:spPr>
      </p:pic>
      <p:sp>
        <p:nvSpPr>
          <p:cNvPr id="14" name="Text 9"/>
          <p:cNvSpPr txBox="1"/>
          <p:nvPr/>
        </p:nvSpPr>
        <p:spPr>
          <a:xfrm>
            <a:off x="7040880" y="2057400"/>
            <a:ext cx="4416552" cy="457200"/>
          </a:xfrm>
          <a:prstGeom prst="rect">
            <a:avLst/>
          </a:prstGeom>
          <a:noFill/>
          <a:ln/>
        </p:spPr>
        <p:txBody>
          <a:bodyPr wrap="square" lIns="0" tIns="0" rIns="0" bIns="0" rtlCol="0" anchor="ctr"/>
          <a:lstStyle/>
          <a:p>
            <a:pPr algn="l" indent="0" marL="0">
              <a:buNone/>
            </a:pPr>
            <a:r>
              <a:rPr lang="en-US" sz="2000" b="1" dirty="0">
                <a:solidFill>
                  <a:srgbClr val="0B0C0E"/>
                </a:solidFill>
                <a:latin typeface="Calibri" pitchFamily="34" charset="0"/>
                <a:ea typeface="Calibri" pitchFamily="34" charset="-122"/>
                <a:cs typeface="Calibri" pitchFamily="34" charset="-120"/>
              </a:rPr>
              <a:t>Applications</a:t>
            </a:r>
            <a:endParaRPr lang="en-US" sz="2000" dirty="0"/>
          </a:p>
        </p:txBody>
      </p:sp>
      <p:sp>
        <p:nvSpPr>
          <p:cNvPr id="15" name="Text 10"/>
          <p:cNvSpPr txBox="1"/>
          <p:nvPr/>
        </p:nvSpPr>
        <p:spPr>
          <a:xfrm>
            <a:off x="6400800" y="2624328"/>
            <a:ext cx="5056632" cy="12801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Investors screening transit sites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First-time owners near home</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Any city: swap the transit data</a:t>
            </a:r>
            <a:endParaRPr lang="en-US" sz="1800" dirty="0"/>
          </a:p>
        </p:txBody>
      </p:sp>
      <p:sp>
        <p:nvSpPr>
          <p:cNvPr id="16" name="Shape 11"/>
          <p:cNvSpPr/>
          <p:nvPr/>
        </p:nvSpPr>
        <p:spPr>
          <a:xfrm>
            <a:off x="548640" y="4114800"/>
            <a:ext cx="5422392" cy="2057400"/>
          </a:xfrm>
          <a:prstGeom prst="roundRect">
            <a:avLst>
              <a:gd name="adj" fmla="val 5333"/>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17" name="Shape 12"/>
          <p:cNvSpPr/>
          <p:nvPr/>
        </p:nvSpPr>
        <p:spPr>
          <a:xfrm>
            <a:off x="731520" y="4279392"/>
            <a:ext cx="502920" cy="502920"/>
          </a:xfrm>
          <a:prstGeom prst="hexagon">
            <a:avLst/>
          </a:prstGeom>
          <a:solidFill>
            <a:srgbClr val="E1ECFA"/>
          </a:solidFill>
          <a:ln w="12700">
            <a:solidFill>
              <a:srgbClr val="E1ECFA"/>
            </a:solidFill>
            <a:prstDash val="solid"/>
          </a:ln>
        </p:spPr>
      </p:sp>
      <p:pic>
        <p:nvPicPr>
          <p:cNvPr id="18" name="Image 3" descr="/tmp/claude-0/-home-user-SpotOn/d6f8d0e4-6af9-55ea-be62-fed6943cd5f4/scratchpad/deck/icons/FiZap-blue.png">    </p:cNvPr>
          <p:cNvPicPr>
            <a:picLocks noChangeAspect="1"/>
          </p:cNvPicPr>
          <p:nvPr/>
        </p:nvPicPr>
        <p:blipFill>
          <a:blip r:embed="rId4"/>
          <a:stretch>
            <a:fillRect/>
          </a:stretch>
        </p:blipFill>
        <p:spPr>
          <a:xfrm>
            <a:off x="862279" y="4410151"/>
            <a:ext cx="241402" cy="241402"/>
          </a:xfrm>
          <a:prstGeom prst="rect">
            <a:avLst/>
          </a:prstGeom>
        </p:spPr>
      </p:pic>
      <p:sp>
        <p:nvSpPr>
          <p:cNvPr id="19" name="Text 13"/>
          <p:cNvSpPr txBox="1"/>
          <p:nvPr/>
        </p:nvSpPr>
        <p:spPr>
          <a:xfrm>
            <a:off x="1371600" y="4297680"/>
            <a:ext cx="4416552" cy="457200"/>
          </a:xfrm>
          <a:prstGeom prst="rect">
            <a:avLst/>
          </a:prstGeom>
          <a:noFill/>
          <a:ln/>
        </p:spPr>
        <p:txBody>
          <a:bodyPr wrap="square" lIns="0" tIns="0" rIns="0" bIns="0" rtlCol="0" anchor="ctr"/>
          <a:lstStyle/>
          <a:p>
            <a:pPr algn="l" indent="0" marL="0">
              <a:buNone/>
            </a:pPr>
            <a:r>
              <a:rPr lang="en-US" sz="2000" b="1" dirty="0">
                <a:solidFill>
                  <a:srgbClr val="0B0C0E"/>
                </a:solidFill>
                <a:latin typeface="Calibri" pitchFamily="34" charset="0"/>
                <a:ea typeface="Calibri" pitchFamily="34" charset="-122"/>
                <a:cs typeface="Calibri" pitchFamily="34" charset="-120"/>
              </a:rPr>
              <a:t>Future development</a:t>
            </a:r>
            <a:endParaRPr lang="en-US" sz="2000" dirty="0"/>
          </a:p>
        </p:txBody>
      </p:sp>
      <p:sp>
        <p:nvSpPr>
          <p:cNvPr id="20" name="Text 14"/>
          <p:cNvSpPr txBox="1"/>
          <p:nvPr/>
        </p:nvSpPr>
        <p:spPr>
          <a:xfrm>
            <a:off x="731520" y="4864608"/>
            <a:ext cx="5056632" cy="12801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Surveys for the 100 unscored cells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Storefront quality from photos</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Rent data, more types, mobile card</a:t>
            </a:r>
            <a:endParaRPr lang="en-US" sz="1800" dirty="0"/>
          </a:p>
        </p:txBody>
      </p:sp>
      <p:sp>
        <p:nvSpPr>
          <p:cNvPr id="21" name="Shape 15"/>
          <p:cNvSpPr/>
          <p:nvPr/>
        </p:nvSpPr>
        <p:spPr>
          <a:xfrm>
            <a:off x="6217920" y="4114800"/>
            <a:ext cx="5422392" cy="2057400"/>
          </a:xfrm>
          <a:prstGeom prst="roundRect">
            <a:avLst>
              <a:gd name="adj" fmla="val 5333"/>
            </a:avLst>
          </a:prstGeom>
          <a:solidFill>
            <a:srgbClr val="FFFFFF"/>
          </a:solidFill>
          <a:ln w="9525">
            <a:solidFill>
              <a:srgbClr val="DDE1E7"/>
            </a:solidFill>
            <a:prstDash val="solid"/>
          </a:ln>
          <a:effectLst>
            <a:outerShdw sx="100000" sy="100000" kx="0" ky="0" algn="bl" rotWithShape="0" blurRad="101600" dist="25400" dir="5400000">
              <a:srgbClr val="0F1624">
                <a:alpha val="10000"/>
              </a:srgbClr>
            </a:outerShdw>
          </a:effectLst>
        </p:spPr>
      </p:sp>
      <p:sp>
        <p:nvSpPr>
          <p:cNvPr id="22" name="Shape 16"/>
          <p:cNvSpPr/>
          <p:nvPr/>
        </p:nvSpPr>
        <p:spPr>
          <a:xfrm>
            <a:off x="6400800" y="4279392"/>
            <a:ext cx="502920" cy="502920"/>
          </a:xfrm>
          <a:prstGeom prst="hexagon">
            <a:avLst/>
          </a:prstGeom>
          <a:solidFill>
            <a:srgbClr val="E1ECFA"/>
          </a:solidFill>
          <a:ln w="12700">
            <a:solidFill>
              <a:srgbClr val="E1ECFA"/>
            </a:solidFill>
            <a:prstDash val="solid"/>
          </a:ln>
        </p:spPr>
      </p:sp>
      <p:pic>
        <p:nvPicPr>
          <p:cNvPr id="23" name="Image 4" descr="/tmp/claude-0/-home-user-SpotOn/d6f8d0e4-6af9-55ea-be62-fed6943cd5f4/scratchpad/deck/icons/FiCheckCircle-blue.png">    </p:cNvPr>
          <p:cNvPicPr>
            <a:picLocks noChangeAspect="1"/>
          </p:cNvPicPr>
          <p:nvPr/>
        </p:nvPicPr>
        <p:blipFill>
          <a:blip r:embed="rId5"/>
          <a:stretch>
            <a:fillRect/>
          </a:stretch>
        </p:blipFill>
        <p:spPr>
          <a:xfrm>
            <a:off x="6531559" y="4410151"/>
            <a:ext cx="241402" cy="241402"/>
          </a:xfrm>
          <a:prstGeom prst="rect">
            <a:avLst/>
          </a:prstGeom>
        </p:spPr>
      </p:pic>
      <p:sp>
        <p:nvSpPr>
          <p:cNvPr id="24" name="Text 17"/>
          <p:cNvSpPr txBox="1"/>
          <p:nvPr/>
        </p:nvSpPr>
        <p:spPr>
          <a:xfrm>
            <a:off x="7040880" y="4297680"/>
            <a:ext cx="4416552" cy="457200"/>
          </a:xfrm>
          <a:prstGeom prst="rect">
            <a:avLst/>
          </a:prstGeom>
          <a:noFill/>
          <a:ln/>
        </p:spPr>
        <p:txBody>
          <a:bodyPr wrap="square" lIns="0" tIns="0" rIns="0" bIns="0" rtlCol="0" anchor="ctr"/>
          <a:lstStyle/>
          <a:p>
            <a:pPr algn="l" indent="0" marL="0">
              <a:buNone/>
            </a:pPr>
            <a:r>
              <a:rPr lang="en-US" sz="2000" b="1" dirty="0">
                <a:solidFill>
                  <a:srgbClr val="0B0C0E"/>
                </a:solidFill>
                <a:latin typeface="Calibri" pitchFamily="34" charset="0"/>
                <a:ea typeface="Calibri" pitchFamily="34" charset="-122"/>
                <a:cs typeface="Calibri" pitchFamily="34" charset="-120"/>
              </a:rPr>
              <a:t>Conclusion</a:t>
            </a:r>
            <a:endParaRPr lang="en-US" sz="2000" dirty="0"/>
          </a:p>
        </p:txBody>
      </p:sp>
      <p:sp>
        <p:nvSpPr>
          <p:cNvPr id="25" name="Text 18"/>
          <p:cNvSpPr txBox="1"/>
          <p:nvPr/>
        </p:nvSpPr>
        <p:spPr>
          <a:xfrm>
            <a:off x="6400800" y="4864608"/>
            <a:ext cx="5056632" cy="1280160"/>
          </a:xfrm>
          <a:prstGeom prst="rect">
            <a:avLst/>
          </a:prstGeom>
          <a:noFill/>
          <a:ln/>
        </p:spPr>
        <p:txBody>
          <a:bodyPr wrap="square" lIns="0" tIns="0" rIns="0" bIns="0" rtlCol="0" anchor="t"/>
          <a:lstStyle/>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Three signals, one catchment score</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Insight, not raw points on a map</a:t>
            </a:r>
            <a:endParaRPr lang="en-US" sz="1800" dirty="0"/>
          </a:p>
          <a:p>
            <a:pPr marL="228600" indent="-228600">
              <a:spcAft>
                <a:spcPts val="600"/>
              </a:spcAft>
              <a:buSzPct val="100000"/>
              <a:buChar char="•"/>
            </a:pPr>
            <a:r>
              <a:rPr lang="en-US" sz="1800" dirty="0">
                <a:solidFill>
                  <a:srgbClr val="3A3D45"/>
                </a:solidFill>
                <a:latin typeface="Calibri" pitchFamily="34" charset="0"/>
                <a:ea typeface="Calibri" pitchFamily="34" charset="-122"/>
                <a:cs typeface="Calibri" pitchFamily="34" charset="-120"/>
              </a:rPr>
              <a:t>Don't guess. Ask the map.</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0E"/>
        </a:solidFill>
      </p:bgPr>
    </p:bg>
    <p:spTree>
      <p:nvGrpSpPr>
        <p:cNvPr id="1" name=""/>
        <p:cNvGrpSpPr/>
        <p:nvPr/>
      </p:nvGrpSpPr>
      <p:grpSpPr>
        <a:xfrm>
          <a:off x="0" y="0"/>
          <a:ext cx="0" cy="0"/>
          <a:chOff x="0" y="0"/>
          <a:chExt cx="0" cy="0"/>
        </a:xfrm>
      </p:grpSpPr>
      <p:pic>
        <p:nvPicPr>
          <p:cNvPr id="2" name="Image 0" descr="/tmp/claude-0/-home-user-SpotOn/d6f8d0e4-6af9-55ea-be62-fed6943cd5f4/scratchpad/crops/map-3d.png">    </p:cNvPr>
          <p:cNvPicPr>
            <a:picLocks noChangeAspect="1"/>
          </p:cNvPicPr>
          <p:nvPr/>
        </p:nvPicPr>
        <p:blipFill>
          <a:blip r:embed="rId1">
            <a:alphaModFix amt="38000"/>
          </a:blip>
          <a:srcRect l="0" r="0" t="0" b="0"/>
          <a:stretch/>
        </p:blipFill>
        <p:spPr>
          <a:xfrm>
            <a:off x="6309360" y="0"/>
            <a:ext cx="5879592" cy="6858000"/>
          </a:xfrm>
          <a:prstGeom prst="rect">
            <a:avLst/>
          </a:prstGeom>
        </p:spPr>
      </p:pic>
      <p:pic>
        <p:nvPicPr>
          <p:cNvPr id="3" name="Image 1" descr="/tmp/claude-0/-home-user-SpotOn/d6f8d0e4-6af9-55ea-be62-fed6943cd5f4/scratchpad/assets/mark-white.png">    </p:cNvPr>
          <p:cNvPicPr>
            <a:picLocks noChangeAspect="1"/>
          </p:cNvPicPr>
          <p:nvPr/>
        </p:nvPicPr>
        <p:blipFill>
          <a:blip r:embed="rId2"/>
          <a:stretch>
            <a:fillRect/>
          </a:stretch>
        </p:blipFill>
        <p:spPr>
          <a:xfrm>
            <a:off x="640080" y="594360"/>
            <a:ext cx="640080" cy="640080"/>
          </a:xfrm>
          <a:prstGeom prst="rect">
            <a:avLst/>
          </a:prstGeom>
        </p:spPr>
      </p:pic>
      <p:sp>
        <p:nvSpPr>
          <p:cNvPr id="4" name="Text 0"/>
          <p:cNvSpPr txBox="1"/>
          <p:nvPr/>
        </p:nvSpPr>
        <p:spPr>
          <a:xfrm>
            <a:off x="1371600" y="594360"/>
            <a:ext cx="2743200" cy="64008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SpotOn</a:t>
            </a:r>
            <a:endParaRPr lang="en-US" sz="3000" dirty="0"/>
          </a:p>
        </p:txBody>
      </p:sp>
      <p:sp>
        <p:nvSpPr>
          <p:cNvPr id="5" name="Text 1"/>
          <p:cNvSpPr txBox="1"/>
          <p:nvPr/>
        </p:nvSpPr>
        <p:spPr>
          <a:xfrm>
            <a:off x="640080" y="1600200"/>
            <a:ext cx="5486400" cy="822960"/>
          </a:xfrm>
          <a:prstGeom prst="rect">
            <a:avLst/>
          </a:prstGeom>
          <a:noFill/>
          <a:ln/>
        </p:spPr>
        <p:txBody>
          <a:bodyPr wrap="square" lIns="0" tIns="0" rIns="0" bIns="0" rtlCol="0" anchor="t"/>
          <a:lstStyle/>
          <a:p>
            <a:pPr algn="l" indent="0" marL="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6" name="Text 2"/>
          <p:cNvSpPr txBox="1"/>
          <p:nvPr/>
        </p:nvSpPr>
        <p:spPr>
          <a:xfrm>
            <a:off x="640080" y="2423160"/>
            <a:ext cx="5577840" cy="731520"/>
          </a:xfrm>
          <a:prstGeom prst="rect">
            <a:avLst/>
          </a:prstGeom>
          <a:noFill/>
          <a:ln/>
        </p:spPr>
        <p:txBody>
          <a:bodyPr wrap="square" lIns="0" tIns="0" rIns="0" bIns="0" rtlCol="0" anchor="t"/>
          <a:lstStyle/>
          <a:p>
            <a:pPr algn="l" indent="0" marL="0">
              <a:buNone/>
            </a:pPr>
            <a:r>
              <a:rPr lang="en-US" sz="2200" dirty="0">
                <a:solidFill>
                  <a:srgbClr val="C9CDD4"/>
                </a:solidFill>
                <a:latin typeface="Calibri" pitchFamily="34" charset="0"/>
                <a:ea typeface="Calibri" pitchFamily="34" charset="-122"/>
                <a:cs typeface="Calibri" pitchFamily="34" charset="-120"/>
              </a:rPr>
              <a:t>Don't guess where to open. Ask the map.</a:t>
            </a:r>
            <a:endParaRPr lang="en-US" sz="2200" dirty="0"/>
          </a:p>
        </p:txBody>
      </p:sp>
      <p:sp>
        <p:nvSpPr>
          <p:cNvPr id="7" name="Shape 3"/>
          <p:cNvSpPr/>
          <p:nvPr/>
        </p:nvSpPr>
        <p:spPr>
          <a:xfrm>
            <a:off x="640080" y="3246120"/>
            <a:ext cx="2103120" cy="2103120"/>
          </a:xfrm>
          <a:prstGeom prst="roundRect">
            <a:avLst>
              <a:gd name="adj" fmla="val 6522"/>
            </a:avLst>
          </a:prstGeom>
          <a:solidFill>
            <a:srgbClr val="FFFFFF"/>
          </a:solidFill>
          <a:ln w="12700">
            <a:solidFill>
              <a:srgbClr val="FFFFFF"/>
            </a:solidFill>
            <a:prstDash val="solid"/>
          </a:ln>
        </p:spPr>
      </p:sp>
      <p:pic>
        <p:nvPicPr>
          <p:cNvPr id="8" name="Image 2" descr="/tmp/claude-0/-home-user-SpotOn/d6f8d0e4-6af9-55ea-be62-fed6943cd5f4/scratchpad/assets/qr.png">    </p:cNvPr>
          <p:cNvPicPr>
            <a:picLocks noChangeAspect="1"/>
          </p:cNvPicPr>
          <p:nvPr/>
        </p:nvPicPr>
        <p:blipFill>
          <a:blip r:embed="rId3"/>
          <a:stretch>
            <a:fillRect/>
          </a:stretch>
        </p:blipFill>
        <p:spPr>
          <a:xfrm>
            <a:off x="777240" y="3383280"/>
            <a:ext cx="1828800" cy="1828800"/>
          </a:xfrm>
          <a:prstGeom prst="rect">
            <a:avLst/>
          </a:prstGeom>
        </p:spPr>
      </p:pic>
      <p:sp>
        <p:nvSpPr>
          <p:cNvPr id="9" name="Text 4"/>
          <p:cNvSpPr txBox="1"/>
          <p:nvPr/>
        </p:nvSpPr>
        <p:spPr>
          <a:xfrm>
            <a:off x="2971800" y="3246120"/>
            <a:ext cx="3291840" cy="365760"/>
          </a:xfrm>
          <a:prstGeom prst="rect">
            <a:avLst/>
          </a:prstGeom>
          <a:noFill/>
          <a:ln/>
        </p:spPr>
        <p:txBody>
          <a:bodyPr wrap="square" lIns="0" tIns="0" rIns="0" bIns="0" rtlCol="0" anchor="t"/>
          <a:lstStyle/>
          <a:p>
            <a:pPr algn="l" indent="0" marL="0">
              <a:buNone/>
            </a:pPr>
            <a:r>
              <a:rPr lang="en-US" sz="1800" dirty="0">
                <a:solidFill>
                  <a:srgbClr val="C9CDD4"/>
                </a:solidFill>
                <a:latin typeface="Calibri" pitchFamily="34" charset="0"/>
                <a:ea typeface="Calibri" pitchFamily="34" charset="-122"/>
                <a:cs typeface="Calibri" pitchFamily="34" charset="-120"/>
              </a:rPr>
              <a:t>Scan to open the WebGIS</a:t>
            </a:r>
            <a:endParaRPr lang="en-US" sz="1800" dirty="0"/>
          </a:p>
        </p:txBody>
      </p:sp>
      <p:sp>
        <p:nvSpPr>
          <p:cNvPr id="10" name="Text 5"/>
          <p:cNvSpPr txBox="1"/>
          <p:nvPr/>
        </p:nvSpPr>
        <p:spPr>
          <a:xfrm>
            <a:off x="2971800" y="3611880"/>
            <a:ext cx="3291840" cy="91440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spot-on-three.</a:t>
            </a:r>
            <a:endParaRPr lang="en-US" sz="2400" dirty="0"/>
          </a:p>
          <a:p>
            <a:pPr algn="l" indent="0" marL="0">
              <a:buNone/>
            </a:pPr>
            <a:r>
              <a:rPr lang="en-US" sz="2400" b="1" dirty="0">
                <a:solidFill>
                  <a:srgbClr val="FFFFFF"/>
                </a:solidFill>
                <a:latin typeface="Calibri" pitchFamily="34" charset="0"/>
                <a:ea typeface="Calibri" pitchFamily="34" charset="-122"/>
                <a:cs typeface="Calibri" pitchFamily="34" charset="-120"/>
              </a:rPr>
              <a:t>vercel.app</a:t>
            </a:r>
            <a:endParaRPr lang="en-US" sz="2400" dirty="0"/>
          </a:p>
        </p:txBody>
      </p:sp>
      <p:sp>
        <p:nvSpPr>
          <p:cNvPr id="11" name="Text 6"/>
          <p:cNvSpPr txBox="1"/>
          <p:nvPr/>
        </p:nvSpPr>
        <p:spPr>
          <a:xfrm>
            <a:off x="2971800" y="4572000"/>
            <a:ext cx="3291840" cy="548640"/>
          </a:xfrm>
          <a:prstGeom prst="rect">
            <a:avLst/>
          </a:prstGeom>
          <a:noFill/>
          <a:ln/>
        </p:spPr>
        <p:txBody>
          <a:bodyPr wrap="square" lIns="0" tIns="0" rIns="0" bIns="0" rtlCol="0" anchor="t"/>
          <a:lstStyle/>
          <a:p>
            <a:pPr algn="l" indent="0" marL="0">
              <a:buNone/>
            </a:pPr>
            <a:r>
              <a:rPr lang="en-US" sz="1800" dirty="0">
                <a:solidFill>
                  <a:srgbClr val="8FB8F0"/>
                </a:solidFill>
                <a:latin typeface="Calibri" pitchFamily="34" charset="0"/>
                <a:ea typeface="Calibri" pitchFamily="34" charset="-122"/>
                <a:cs typeface="Calibri" pitchFamily="34" charset="-120"/>
              </a:rPr>
              <a:t>github.com/VennethN/SpotOn</a:t>
            </a:r>
            <a:endParaRPr lang="en-US" sz="1800" dirty="0"/>
          </a:p>
        </p:txBody>
      </p:sp>
      <p:sp>
        <p:nvSpPr>
          <p:cNvPr id="12" name="Text 7"/>
          <p:cNvSpPr txBox="1"/>
          <p:nvPr/>
        </p:nvSpPr>
        <p:spPr>
          <a:xfrm>
            <a:off x="640080" y="5577840"/>
            <a:ext cx="5669280" cy="36576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Team Triple T, Universitas Bina Nusantara</a:t>
            </a:r>
            <a:endParaRPr lang="en-US" sz="1800" dirty="0"/>
          </a:p>
        </p:txBody>
      </p:sp>
      <p:sp>
        <p:nvSpPr>
          <p:cNvPr id="13" name="Text 8"/>
          <p:cNvSpPr txBox="1"/>
          <p:nvPr/>
        </p:nvSpPr>
        <p:spPr>
          <a:xfrm>
            <a:off x="640080" y="5943600"/>
            <a:ext cx="5669280" cy="548640"/>
          </a:xfrm>
          <a:prstGeom prst="rect">
            <a:avLst/>
          </a:prstGeom>
          <a:noFill/>
          <a:ln/>
        </p:spPr>
        <p:txBody>
          <a:bodyPr wrap="square" lIns="0" tIns="0" rIns="0" bIns="0" rtlCol="0" anchor="t"/>
          <a:lstStyle/>
          <a:p>
            <a:pPr algn="l" indent="0" marL="0">
              <a:buNone/>
            </a:pPr>
            <a:r>
              <a:rPr lang="en-US" sz="1800" dirty="0">
                <a:solidFill>
                  <a:srgbClr val="C9CDD4"/>
                </a:solidFill>
                <a:latin typeface="Calibri" pitchFamily="34" charset="0"/>
                <a:ea typeface="Calibri" pitchFamily="34" charset="-122"/>
                <a:cs typeface="Calibri" pitchFamily="34" charset="-120"/>
              </a:rPr>
              <a:t>Valent Nathanael, Farhan Aulianda, Anthony Gilles Rudolfo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SpotOn · MAPID WebGIS Competition 2026 · Final pitch</dc:title>
  <dc:subject>PptxGenJS Presentation</dc:subject>
  <dc:creator>Team Triple T</dc:creator>
  <cp:lastModifiedBy>Team Triple T</cp:lastModifiedBy>
  <cp:revision>1</cp:revision>
  <dcterms:created xsi:type="dcterms:W3CDTF">2026-09-19T13:46:43Z</dcterms:created>
  <dcterms:modified xsi:type="dcterms:W3CDTF">2026-09-19T13:46:43Z</dcterms:modified>
</cp:coreProperties>
</file>